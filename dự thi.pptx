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9" r:id="rId5"/>
    <p:sldId id="260" r:id="rId6"/>
    <p:sldId id="265" r:id="rId7"/>
    <p:sldId id="261" r:id="rId8"/>
    <p:sldId id="262" r:id="rId9"/>
    <p:sldId id="263" r:id="rId10"/>
    <p:sldId id="264" r:id="rId11"/>
  </p:sldIdLst>
  <p:sldSz cx="18288000" cy="10287000"/>
  <p:notesSz cx="6858000" cy="9144000"/>
  <p:embeddedFontLst>
    <p:embeddedFont>
      <p:font typeface="Aptos Bold" panose="020B0604020202020204" charset="0"/>
      <p:regular r:id="rId13"/>
    </p:embeddedFont>
    <p:embeddedFont>
      <p:font typeface="Aptos Italics" panose="020B0604020202020204" charset="0"/>
      <p:regular r:id="rId14"/>
    </p:embeddedFont>
    <p:embeddedFont>
      <p:font typeface="Museo RMIT VN Bold" panose="020B0604020202020204" charset="0"/>
      <p:regular r:id="rId15"/>
    </p:embeddedFont>
    <p:embeddedFont>
      <p:font typeface="Museo RMIT VN Light"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22" autoAdjust="0"/>
  </p:normalViewPr>
  <p:slideViewPr>
    <p:cSldViewPr>
      <p:cViewPr varScale="1">
        <p:scale>
          <a:sx n="45" d="100"/>
          <a:sy n="45" d="100"/>
        </p:scale>
        <p:origin x="64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3993634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46B31-F383-2E63-5E3B-7C50AFA8722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BE6EDF-C4FF-D01E-DDFC-2250DE12560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382C1B8-550A-29EA-5FB7-21B297348F3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EB34E35-5F9A-83A2-3352-119E763DAA5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5415DA0-BDB0-BB5C-4D58-04F83A20CBA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a:extLst>
              <a:ext uri="{FF2B5EF4-FFF2-40B4-BE49-F238E27FC236}">
                <a16:creationId xmlns:a16="http://schemas.microsoft.com/office/drawing/2014/main" id="{193CD033-7D58-81F7-C654-EBA086D5ECF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0F07E26-457D-B180-335C-54F57231374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90366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scendent-cuchufli-30f705.netlify.app/" TargetMode="External"/><Relationship Id="rId4" Type="http://schemas.openxmlformats.org/officeDocument/2006/relationships/hyperlink" Target="https://app.netlify.com/" TargetMode="External"/><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245707"/>
            <a:ext cx="16230600" cy="3012805"/>
          </a:xfrm>
          <a:custGeom>
            <a:avLst/>
            <a:gdLst/>
            <a:ahLst/>
            <a:cxnLst/>
            <a:rect l="l" t="t" r="r" b="b"/>
            <a:pathLst>
              <a:path w="16230600" h="3012805">
                <a:moveTo>
                  <a:pt x="0" y="0"/>
                </a:moveTo>
                <a:lnTo>
                  <a:pt x="16230600" y="0"/>
                </a:lnTo>
                <a:lnTo>
                  <a:pt x="16230600" y="3012806"/>
                </a:lnTo>
                <a:lnTo>
                  <a:pt x="0" y="3012806"/>
                </a:lnTo>
                <a:lnTo>
                  <a:pt x="0" y="0"/>
                </a:lnTo>
                <a:close/>
              </a:path>
            </a:pathLst>
          </a:custGeom>
          <a:blipFill>
            <a:blip r:embed="rId3"/>
            <a:stretch>
              <a:fillRect/>
            </a:stretch>
          </a:blipFill>
        </p:spPr>
        <p:txBody>
          <a:bodyPr/>
          <a:lstStyle/>
          <a:p>
            <a:endParaRPr lang="en-AU"/>
          </a:p>
        </p:txBody>
      </p:sp>
      <p:grpSp>
        <p:nvGrpSpPr>
          <p:cNvPr id="3" name="Group 3"/>
          <p:cNvGrpSpPr/>
          <p:nvPr/>
        </p:nvGrpSpPr>
        <p:grpSpPr>
          <a:xfrm>
            <a:off x="4396352" y="6624086"/>
            <a:ext cx="2995048" cy="2251479"/>
            <a:chOff x="0" y="0"/>
            <a:chExt cx="3993397" cy="3001972"/>
          </a:xfrm>
        </p:grpSpPr>
        <p:sp>
          <p:nvSpPr>
            <p:cNvPr id="4" name="TextBox 4"/>
            <p:cNvSpPr txBox="1"/>
            <p:nvPr/>
          </p:nvSpPr>
          <p:spPr>
            <a:xfrm>
              <a:off x="0" y="0"/>
              <a:ext cx="3768525" cy="435073"/>
            </a:xfrm>
            <a:prstGeom prst="rect">
              <a:avLst/>
            </a:prstGeom>
          </p:spPr>
          <p:txBody>
            <a:bodyPr wrap="square" lIns="0" tIns="0" rIns="0" bIns="0" rtlCol="0" anchor="t">
              <a:spAutoFit/>
            </a:bodyPr>
            <a:lstStyle/>
            <a:p>
              <a:pPr algn="l">
                <a:lnSpc>
                  <a:spcPts val="2588"/>
                </a:lnSpc>
              </a:pPr>
              <a:r>
                <a:rPr lang="en-US" sz="2156" b="1" spc="79" dirty="0" err="1">
                  <a:solidFill>
                    <a:srgbClr val="FFFFFF"/>
                  </a:solidFill>
                  <a:latin typeface="Museo RMIT VN Bold"/>
                  <a:ea typeface="Museo RMIT VN Bold"/>
                  <a:cs typeface="Museo RMIT VN Bold"/>
                  <a:sym typeface="Museo RMIT VN Bold"/>
                </a:rPr>
                <a:t>Giáo</a:t>
              </a:r>
              <a:r>
                <a:rPr lang="en-US" sz="2156" b="1" spc="79" dirty="0">
                  <a:solidFill>
                    <a:srgbClr val="FFFFFF"/>
                  </a:solidFill>
                  <a:latin typeface="Museo RMIT VN Bold"/>
                  <a:ea typeface="Museo RMIT VN Bold"/>
                  <a:cs typeface="Museo RMIT VN Bold"/>
                  <a:sym typeface="Museo RMIT VN Bold"/>
                </a:rPr>
                <a:t> </a:t>
              </a:r>
              <a:r>
                <a:rPr lang="en-US" sz="2156" b="1" spc="79" dirty="0" err="1">
                  <a:solidFill>
                    <a:srgbClr val="FFFFFF"/>
                  </a:solidFill>
                  <a:latin typeface="Museo RMIT VN Bold"/>
                  <a:ea typeface="Museo RMIT VN Bold"/>
                  <a:cs typeface="Museo RMIT VN Bold"/>
                  <a:sym typeface="Museo RMIT VN Bold"/>
                </a:rPr>
                <a:t>viên</a:t>
              </a:r>
              <a:r>
                <a:rPr lang="en-US" sz="2156" b="1" spc="79" dirty="0">
                  <a:solidFill>
                    <a:srgbClr val="FFFFFF"/>
                  </a:solidFill>
                  <a:latin typeface="Museo RMIT VN Bold"/>
                  <a:ea typeface="Museo RMIT VN Bold"/>
                  <a:cs typeface="Museo RMIT VN Bold"/>
                  <a:sym typeface="Museo RMIT VN Bold"/>
                </a:rPr>
                <a:t> </a:t>
              </a:r>
              <a:r>
                <a:rPr lang="en-US" sz="2156" b="1" spc="79" dirty="0" err="1">
                  <a:solidFill>
                    <a:srgbClr val="FFFFFF"/>
                  </a:solidFill>
                  <a:latin typeface="Museo RMIT VN Bold"/>
                  <a:ea typeface="Museo RMIT VN Bold"/>
                  <a:cs typeface="Museo RMIT VN Bold"/>
                  <a:sym typeface="Museo RMIT VN Bold"/>
                </a:rPr>
                <a:t>thực</a:t>
              </a:r>
              <a:r>
                <a:rPr lang="en-US" sz="2156" b="1" spc="79" dirty="0">
                  <a:solidFill>
                    <a:srgbClr val="FFFFFF"/>
                  </a:solidFill>
                  <a:latin typeface="Museo RMIT VN Bold"/>
                  <a:ea typeface="Museo RMIT VN Bold"/>
                  <a:cs typeface="Museo RMIT VN Bold"/>
                  <a:sym typeface="Museo RMIT VN Bold"/>
                </a:rPr>
                <a:t> </a:t>
              </a:r>
              <a:r>
                <a:rPr lang="en-US" sz="2156" b="1" spc="79" dirty="0" err="1">
                  <a:solidFill>
                    <a:srgbClr val="FFFFFF"/>
                  </a:solidFill>
                  <a:latin typeface="Museo RMIT VN Bold"/>
                  <a:ea typeface="Museo RMIT VN Bold"/>
                  <a:cs typeface="Museo RMIT VN Bold"/>
                  <a:sym typeface="Museo RMIT VN Bold"/>
                </a:rPr>
                <a:t>hiện</a:t>
              </a:r>
              <a:endParaRPr lang="en-US" sz="2156" b="1" spc="79" dirty="0">
                <a:solidFill>
                  <a:srgbClr val="FFFFFF"/>
                </a:solidFill>
                <a:latin typeface="Museo RMIT VN Bold"/>
                <a:ea typeface="Museo RMIT VN Bold"/>
                <a:cs typeface="Museo RMIT VN Bold"/>
                <a:sym typeface="Museo RMIT VN Bold"/>
              </a:endParaRPr>
            </a:p>
          </p:txBody>
        </p:sp>
        <p:sp>
          <p:nvSpPr>
            <p:cNvPr id="5" name="TextBox 5"/>
            <p:cNvSpPr txBox="1"/>
            <p:nvPr/>
          </p:nvSpPr>
          <p:spPr>
            <a:xfrm>
              <a:off x="0" y="2572708"/>
              <a:ext cx="3993397" cy="429264"/>
            </a:xfrm>
            <a:prstGeom prst="rect">
              <a:avLst/>
            </a:prstGeom>
          </p:spPr>
          <p:txBody>
            <a:bodyPr wrap="square" lIns="0" tIns="0" rIns="0" bIns="0" rtlCol="0" anchor="t">
              <a:spAutoFit/>
            </a:bodyPr>
            <a:lstStyle/>
            <a:p>
              <a:pPr algn="just">
                <a:lnSpc>
                  <a:spcPts val="2588"/>
                </a:lnSpc>
              </a:pPr>
              <a:r>
                <a:rPr lang="vi-VN" sz="2156">
                  <a:solidFill>
                    <a:srgbClr val="FFEA00"/>
                  </a:solidFill>
                  <a:latin typeface="Museo RMIT VN Light"/>
                  <a:ea typeface="Museo RMIT VN Light"/>
                  <a:cs typeface="Museo RMIT VN Light"/>
                  <a:sym typeface="Museo RMIT VN Light"/>
                </a:rPr>
                <a:t>Nguyễn Thị Thanh Lan</a:t>
              </a:r>
              <a:endParaRPr lang="en-US" sz="2156" dirty="0">
                <a:solidFill>
                  <a:srgbClr val="FFEA00"/>
                </a:solidFill>
                <a:latin typeface="Museo RMIT VN Light"/>
                <a:ea typeface="Museo RMIT VN Light"/>
                <a:cs typeface="Museo RMIT VN Light"/>
                <a:sym typeface="Museo RMIT VN Light"/>
              </a:endParaRPr>
            </a:p>
          </p:txBody>
        </p:sp>
      </p:grpSp>
      <p:sp>
        <p:nvSpPr>
          <p:cNvPr id="8" name="Freeform 8"/>
          <p:cNvSpPr/>
          <p:nvPr/>
        </p:nvSpPr>
        <p:spPr>
          <a:xfrm>
            <a:off x="589229" y="5696988"/>
            <a:ext cx="1654581" cy="1854195"/>
          </a:xfrm>
          <a:custGeom>
            <a:avLst/>
            <a:gdLst/>
            <a:ahLst/>
            <a:cxnLst/>
            <a:rect l="l" t="t" r="r" b="b"/>
            <a:pathLst>
              <a:path w="1654581" h="1854195">
                <a:moveTo>
                  <a:pt x="0" y="0"/>
                </a:moveTo>
                <a:lnTo>
                  <a:pt x="1654581" y="0"/>
                </a:lnTo>
                <a:lnTo>
                  <a:pt x="1654581" y="1854195"/>
                </a:lnTo>
                <a:lnTo>
                  <a:pt x="0" y="1854195"/>
                </a:lnTo>
                <a:lnTo>
                  <a:pt x="0" y="0"/>
                </a:lnTo>
                <a:close/>
              </a:path>
            </a:pathLst>
          </a:custGeom>
          <a:blipFill>
            <a:blip r:embed="rId4"/>
            <a:stretch>
              <a:fillRect/>
            </a:stretch>
          </a:blipFill>
        </p:spPr>
        <p:txBody>
          <a:bodyPr/>
          <a:lstStyle/>
          <a:p>
            <a:endParaRPr lang="en-AU"/>
          </a:p>
        </p:txBody>
      </p:sp>
      <p:sp>
        <p:nvSpPr>
          <p:cNvPr id="9" name="Freeform 9"/>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5"/>
            <a:stretch>
              <a:fillRect/>
            </a:stretch>
          </a:blipFill>
        </p:spPr>
        <p:txBody>
          <a:bodyPr/>
          <a:lstStyle/>
          <a:p>
            <a:endParaRPr lang="en-AU"/>
          </a:p>
        </p:txBody>
      </p:sp>
      <p:sp>
        <p:nvSpPr>
          <p:cNvPr id="10" name="Freeform 10"/>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6"/>
            <a:stretch>
              <a:fillRect/>
            </a:stretch>
          </a:blipFill>
        </p:spPr>
        <p:txBody>
          <a:bodyPr/>
          <a:lstStyle/>
          <a:p>
            <a:endParaRPr lang="en-AU"/>
          </a:p>
        </p:txBody>
      </p:sp>
      <p:sp>
        <p:nvSpPr>
          <p:cNvPr id="11" name="TextBox 11"/>
          <p:cNvSpPr txBox="1"/>
          <p:nvPr/>
        </p:nvSpPr>
        <p:spPr>
          <a:xfrm>
            <a:off x="1028700" y="3657600"/>
            <a:ext cx="16230600" cy="2011680"/>
          </a:xfrm>
          <a:prstGeom prst="rect">
            <a:avLst/>
          </a:prstGeom>
        </p:spPr>
        <p:txBody>
          <a:bodyPr lIns="0" tIns="0" rIns="0" bIns="0" rtlCol="0" anchor="t" wrap="square">
            <a:spAutoFit/>
          </a:bodyPr>
          <a:lstStyle/>
          <a:p>
            <a:pPr algn="ctr">
              <a:lnSpc>
                <a:spcPct val="115000"/>
              </a:lnSpc>
            </a:pPr>
            <a:r>
              <a:rPr sz="3000" b="1" i="0">
                <a:solidFill>
                  <a:srgbClr val="002060"/>
                </a:solidFill>
                <a:latin typeface="Arial"/>
              </a:rPr>
              <a:t>HSA Master AI: Giải pháp số hóa học liệu Ngữ Văn</a:t>
            </a:r>
            <a:endParaRPr lang="en-US" sz="6453" b="1" spc="-322" dirty="0">
              <a:solidFill>
                <a:srgbClr val="000054"/>
              </a:solidFill>
              <a:latin typeface="Aptos Bold"/>
              <a:ea typeface="Aptos Bold"/>
              <a:cs typeface="Aptos Bold"/>
              <a:sym typeface="Aptos Bold"/>
            </a:endParaRPr>
          </a:p>
          <a:p>
            <a:pPr algn="ctr">
              <a:lnSpc>
                <a:spcPct val="115000"/>
              </a:lnSpc>
            </a:pPr>
            <a:r>
              <a:rPr sz="2600" b="1" i="0">
                <a:solidFill>
                  <a:srgbClr val="002060"/>
                </a:solidFill>
                <a:latin typeface="Arial"/>
              </a:rPr>
              <a:t>và Gia sư ảo hỗ trợ học sinh THPT chinh phục kỳ thi Đánh giá năng lực</a:t>
            </a:r>
          </a:p>
        </p:txBody>
      </p:sp>
      <p:sp>
        <p:nvSpPr>
          <p:cNvPr id="12" name="TextBox 12"/>
          <p:cNvSpPr txBox="1"/>
          <p:nvPr/>
        </p:nvSpPr>
        <p:spPr>
          <a:xfrm>
            <a:off x="8395088" y="6718687"/>
            <a:ext cx="7229682" cy="1000274"/>
          </a:xfrm>
          <a:prstGeom prst="rect">
            <a:avLst/>
          </a:prstGeom>
        </p:spPr>
        <p:txBody>
          <a:bodyPr lIns="0" tIns="0" rIns="0" bIns="0" rtlCol="0" anchor="t" wrap="square">
            <a:spAutoFit/>
          </a:bodyPr>
          <a:lstStyle/>
          <a:p>
            <a:pPr algn="l">
              <a:lnSpc>
                <a:spcPts val="2999"/>
              </a:lnSpc>
            </a:pPr>
            <a:r>
              <a:rPr sz="1800" b="1" i="0">
                <a:solidFill>
                  <a:srgbClr val="FFFFFF"/>
                </a:solidFill>
                <a:latin typeface="Arial"/>
              </a:rPr>
              <a:t>Đơn vị công tác:</a:t>
            </a:r>
          </a:p>
          <a:p>
            <a:r>
              <a:rPr sz="1600" b="0" i="0">
                <a:solidFill>
                  <a:srgbClr val="FFFFFF"/>
                </a:solidFill>
                <a:latin typeface="Arial"/>
              </a:rPr>
              <a:t>Tổ Ngữ văn – Ngoại ngữ | Trường THPT Chương Mỹ A</a:t>
            </a:r>
          </a:p>
        </p:txBody>
      </p:sp>
      <p:sp>
        <p:nvSpPr>
          <p:cNvPr id="13" name="TextBox 13"/>
          <p:cNvSpPr txBox="1"/>
          <p:nvPr/>
        </p:nvSpPr>
        <p:spPr>
          <a:xfrm>
            <a:off x="8395088" y="8021732"/>
            <a:ext cx="4557809" cy="692497"/>
          </a:xfrm>
          <a:prstGeom prst="rect">
            <a:avLst/>
          </a:prstGeom>
        </p:spPr>
        <p:txBody>
          <a:bodyPr lIns="0" tIns="0" rIns="0" bIns="0" rtlCol="0" anchor="t" wrap="square">
            <a:spAutoFit/>
          </a:bodyPr>
          <a:lstStyle/>
          <a:p>
            <a:pPr marL="0" lvl="0" indent="0" algn="just">
              <a:lnSpc>
                <a:spcPts val="2999"/>
              </a:lnSpc>
              <a:spcBef>
                <a:spcPct val="0"/>
              </a:spcBef>
            </a:pPr>
            <a:r>
              <a:rPr sz="1800" b="1" i="0">
                <a:solidFill>
                  <a:srgbClr val="FFFFFF"/>
                </a:solidFill>
                <a:latin typeface="Arial"/>
              </a:rPr>
              <a:t>Email:</a:t>
            </a:r>
          </a:p>
          <a:p>
            <a:r>
              <a:rPr sz="1600" b="0" i="0">
                <a:solidFill>
                  <a:srgbClr val="FFFFFF"/>
                </a:solidFill>
                <a:latin typeface="Arial"/>
              </a:rPr>
              <a:t>Tieulanthuytinh@gmail.com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Freeform 3"/>
          <p:cNvSpPr/>
          <p:nvPr/>
        </p:nvSpPr>
        <p:spPr>
          <a:xfrm>
            <a:off x="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r="-100000"/>
            </a:stretch>
          </a:blipFill>
        </p:spPr>
        <p:txBody>
          <a:bodyPr/>
          <a:lstStyle/>
          <a:p>
            <a:endParaRPr lang="en-AU"/>
          </a:p>
        </p:txBody>
      </p:sp>
      <p:grpSp>
        <p:nvGrpSpPr>
          <p:cNvPr id="4" name="Group 4"/>
          <p:cNvGrpSpPr/>
          <p:nvPr/>
        </p:nvGrpSpPr>
        <p:grpSpPr>
          <a:xfrm>
            <a:off x="1028700" y="1028700"/>
            <a:ext cx="6952685" cy="8153400"/>
            <a:chOff x="0" y="0"/>
            <a:chExt cx="1831160" cy="2147398"/>
          </a:xfrm>
        </p:grpSpPr>
        <p:sp>
          <p:nvSpPr>
            <p:cNvPr id="5" name="Freeform 5"/>
            <p:cNvSpPr/>
            <p:nvPr/>
          </p:nvSpPr>
          <p:spPr>
            <a:xfrm>
              <a:off x="0" y="0"/>
              <a:ext cx="1831160" cy="2147398"/>
            </a:xfrm>
            <a:custGeom>
              <a:avLst/>
              <a:gdLst/>
              <a:ahLst/>
              <a:cxnLst/>
              <a:rect l="l" t="t" r="r" b="b"/>
              <a:pathLst>
                <a:path w="1831160" h="2147398">
                  <a:moveTo>
                    <a:pt x="0" y="0"/>
                  </a:moveTo>
                  <a:lnTo>
                    <a:pt x="1831160" y="0"/>
                  </a:lnTo>
                  <a:lnTo>
                    <a:pt x="1831160" y="2147398"/>
                  </a:lnTo>
                  <a:lnTo>
                    <a:pt x="0" y="2147398"/>
                  </a:lnTo>
                  <a:close/>
                </a:path>
              </a:pathLst>
            </a:custGeom>
            <a:solidFill>
              <a:srgbClr val="FFFFFF"/>
            </a:solidFill>
          </p:spPr>
          <p:txBody>
            <a:bodyPr/>
            <a:lstStyle/>
            <a:p>
              <a:endParaRPr lang="en-AU"/>
            </a:p>
          </p:txBody>
        </p:sp>
        <p:sp>
          <p:nvSpPr>
            <p:cNvPr id="6" name="TextBox 6"/>
            <p:cNvSpPr txBox="1"/>
            <p:nvPr/>
          </p:nvSpPr>
          <p:spPr>
            <a:xfrm>
              <a:off x="0" y="66675"/>
              <a:ext cx="1831160" cy="2080723"/>
            </a:xfrm>
            <a:prstGeom prst="rect">
              <a:avLst/>
            </a:prstGeom>
          </p:spPr>
          <p:txBody>
            <a:bodyPr lIns="50800" tIns="50800" rIns="50800" bIns="50800" rtlCol="0" anchor="ctr"/>
            <a:lstStyle/>
            <a:p>
              <a:pPr algn="ctr">
                <a:lnSpc>
                  <a:spcPts val="2454"/>
                </a:lnSpc>
              </a:pPr>
              <a:endParaRPr/>
            </a:p>
          </p:txBody>
        </p:sp>
      </p:grpSp>
      <p:sp>
        <p:nvSpPr>
          <p:cNvPr id="7" name="TextBox 7"/>
          <p:cNvSpPr txBox="1"/>
          <p:nvPr/>
        </p:nvSpPr>
        <p:spPr>
          <a:xfrm>
            <a:off x="9976477" y="895350"/>
            <a:ext cx="7606673" cy="810962"/>
          </a:xfrm>
          <a:prstGeom prst="rect">
            <a:avLst/>
          </a:prstGeom>
        </p:spPr>
        <p:txBody>
          <a:bodyPr lIns="0" tIns="0" rIns="0" bIns="0" rtlCol="0" anchor="t">
            <a:spAutoFit/>
          </a:bodyPr>
          <a:lstStyle/>
          <a:p>
            <a:pPr marL="0" lvl="0" indent="0" algn="l">
              <a:lnSpc>
                <a:spcPts val="6862"/>
              </a:lnSpc>
              <a:spcBef>
                <a:spcPct val="0"/>
              </a:spcBef>
            </a:pPr>
            <a:r>
              <a:rPr sz="3800" b="1" i="0">
                <a:solidFill>
                  <a:srgbClr val="002060"/>
                </a:solidFill>
                <a:latin typeface="Arial"/>
              </a:rPr>
              <a:t>NỘI DUNG BÀI TRÌNH BÀY</a:t>
            </a:r>
          </a:p>
        </p:txBody>
      </p:sp>
      <p:sp>
        <p:nvSpPr>
          <p:cNvPr id="8" name="TextBox 8"/>
          <p:cNvSpPr txBox="1"/>
          <p:nvPr/>
        </p:nvSpPr>
        <p:spPr>
          <a:xfrm>
            <a:off x="10693948" y="9428646"/>
            <a:ext cx="6889202" cy="627420"/>
          </a:xfrm>
          <a:prstGeom prst="rect">
            <a:avLst/>
          </a:prstGeom>
        </p:spPr>
        <p:txBody>
          <a:bodyPr lIns="0" tIns="0" rIns="0" bIns="0" rtlCol="0" anchor="t">
            <a:spAutoFit/>
          </a:bodyPr>
          <a:lstStyle/>
          <a:p>
            <a:pPr algn="l">
              <a:lnSpc>
                <a:spcPts val="2454"/>
              </a:lnSpc>
            </a:pPr>
            <a:r>
              <a:rPr lang="en-US" sz="2600" b="1" spc="96">
                <a:solidFill>
                  <a:srgbClr val="000054"/>
                </a:solidFill>
                <a:latin typeface="Aptos Bold"/>
                <a:ea typeface="Aptos Bold"/>
                <a:cs typeface="Aptos Bold"/>
                <a:sym typeface="Aptos Bold"/>
              </a:rPr>
              <a:t>Giải Thưởng Tiên Phong Ứng Dụng AI Trong Giáo Dục Việt Nam 2026</a:t>
            </a:r>
          </a:p>
        </p:txBody>
      </p:sp>
      <p:sp>
        <p:nvSpPr>
          <p:cNvPr id="9" name="TextBox 9"/>
          <p:cNvSpPr txBox="1"/>
          <p:nvPr/>
        </p:nvSpPr>
        <p:spPr>
          <a:xfrm>
            <a:off x="9302422" y="1856514"/>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10" name="TextBox 10"/>
          <p:cNvSpPr txBox="1"/>
          <p:nvPr/>
        </p:nvSpPr>
        <p:spPr>
          <a:xfrm>
            <a:off x="1882397" y="4389696"/>
            <a:ext cx="5245291" cy="1145658"/>
          </a:xfrm>
          <a:prstGeom prst="rect">
            <a:avLst/>
          </a:prstGeom>
        </p:spPr>
        <p:txBody>
          <a:bodyPr lIns="0" tIns="0" rIns="0" bIns="0" rtlCol="0" anchor="t">
            <a:spAutoFit/>
          </a:bodyPr>
          <a:lstStyle/>
          <a:p>
            <a:pPr algn="l">
              <a:lnSpc>
                <a:spcPts val="4661"/>
              </a:lnSpc>
            </a:pPr>
          </a:p>
        </p:txBody>
      </p:sp>
      <p:sp>
        <p:nvSpPr>
          <p:cNvPr id="12" name="TextBox 9">
            <a:extLst>
              <a:ext uri="{FF2B5EF4-FFF2-40B4-BE49-F238E27FC236}">
                <a16:creationId xmlns:a16="http://schemas.microsoft.com/office/drawing/2014/main" id="{EABDFB6A-F7B3-4507-6E99-CCDFBFC83C9A}"/>
              </a:ext>
            </a:extLst>
          </p:cNvPr>
          <p:cNvSpPr txBox="1"/>
          <p:nvPr/>
        </p:nvSpPr>
        <p:spPr>
          <a:xfrm>
            <a:off x="10413109" y="2497135"/>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14" name="TextBox 9">
            <a:extLst>
              <a:ext uri="{FF2B5EF4-FFF2-40B4-BE49-F238E27FC236}">
                <a16:creationId xmlns:a16="http://schemas.microsoft.com/office/drawing/2014/main" id="{44F39801-30D2-F91C-168E-197C03198711}"/>
              </a:ext>
            </a:extLst>
          </p:cNvPr>
          <p:cNvSpPr txBox="1"/>
          <p:nvPr/>
        </p:nvSpPr>
        <p:spPr>
          <a:xfrm>
            <a:off x="10525893" y="3413649"/>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16" name="TextBox 9">
            <a:extLst>
              <a:ext uri="{FF2B5EF4-FFF2-40B4-BE49-F238E27FC236}">
                <a16:creationId xmlns:a16="http://schemas.microsoft.com/office/drawing/2014/main" id="{3685271E-0623-6AA6-2890-4F6457E3F339}"/>
              </a:ext>
            </a:extLst>
          </p:cNvPr>
          <p:cNvSpPr txBox="1"/>
          <p:nvPr/>
        </p:nvSpPr>
        <p:spPr>
          <a:xfrm>
            <a:off x="10531112" y="4325873"/>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18" name="TextBox 9">
            <a:extLst>
              <a:ext uri="{FF2B5EF4-FFF2-40B4-BE49-F238E27FC236}">
                <a16:creationId xmlns:a16="http://schemas.microsoft.com/office/drawing/2014/main" id="{91145094-D0E2-300E-DA72-17D7413AFB83}"/>
              </a:ext>
            </a:extLst>
          </p:cNvPr>
          <p:cNvSpPr txBox="1"/>
          <p:nvPr/>
        </p:nvSpPr>
        <p:spPr>
          <a:xfrm>
            <a:off x="10413108" y="5225202"/>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20" name="TextBox 9">
            <a:extLst>
              <a:ext uri="{FF2B5EF4-FFF2-40B4-BE49-F238E27FC236}">
                <a16:creationId xmlns:a16="http://schemas.microsoft.com/office/drawing/2014/main" id="{F7A2612E-D8FC-5392-2638-6CCF26F81AD6}"/>
              </a:ext>
            </a:extLst>
          </p:cNvPr>
          <p:cNvSpPr txBox="1"/>
          <p:nvPr/>
        </p:nvSpPr>
        <p:spPr>
          <a:xfrm>
            <a:off x="10287000" y="6033210"/>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sp>
        <p:nvSpPr>
          <p:cNvPr id="22" name="TextBox 9">
            <a:extLst>
              <a:ext uri="{FF2B5EF4-FFF2-40B4-BE49-F238E27FC236}">
                <a16:creationId xmlns:a16="http://schemas.microsoft.com/office/drawing/2014/main" id="{9A8DFD8D-7A11-FEED-A157-7028311CF36D}"/>
              </a:ext>
            </a:extLst>
          </p:cNvPr>
          <p:cNvSpPr txBox="1"/>
          <p:nvPr/>
        </p:nvSpPr>
        <p:spPr>
          <a:xfrm>
            <a:off x="10479819" y="7022663"/>
            <a:ext cx="6733407" cy="559512"/>
          </a:xfrm>
          <a:prstGeom prst="rect">
            <a:avLst/>
          </a:prstGeom>
        </p:spPr>
        <p:txBody>
          <a:bodyPr lIns="0" tIns="0" rIns="0" bIns="0" rtlCol="0" anchor="t">
            <a:spAutoFit/>
          </a:bodyPr>
          <a:lstStyle/>
          <a:p>
            <a:pPr marL="653460" lvl="1" indent="-326730" algn="l">
              <a:lnSpc>
                <a:spcPts val="4661"/>
              </a:lnSpc>
              <a:buFont typeface="Arial"/>
              <a:buChar char="•"/>
            </a:pPr>
            <a:endParaRPr lang="en-US" sz="3026" i="1" dirty="0">
              <a:solidFill>
                <a:srgbClr val="000054"/>
              </a:solidFill>
              <a:latin typeface="Aptos Italics"/>
              <a:ea typeface="Aptos Italics"/>
              <a:cs typeface="Aptos Italics"/>
              <a:sym typeface="Aptos Italics"/>
            </a:endParaRPr>
          </a:p>
        </p:txBody>
      </p:sp>
      <p:pic>
        <p:nvPicPr>
          <p:cNvPr id="23" name="Picture 22" descr="app_screenshot.png"/>
          <p:cNvPicPr>
            <a:picLocks noChangeAspect="1"/>
          </p:cNvPicPr>
          <p:nvPr/>
        </p:nvPicPr>
        <p:blipFill>
          <a:blip r:embed="rId4"/>
          <a:stretch>
            <a:fillRect/>
          </a:stretch>
        </p:blipFill>
        <p:spPr>
          <a:xfrm>
            <a:off x="1143000" y="1234440"/>
            <a:ext cx="6711696" cy="4160520"/>
          </a:xfrm>
          <a:prstGeom prst="rect">
            <a:avLst/>
          </a:prstGeom>
        </p:spPr>
      </p:pic>
      <p:sp>
        <p:nvSpPr>
          <p:cNvPr id="24" name="TextBox 23"/>
          <p:cNvSpPr txBox="1"/>
          <p:nvPr/>
        </p:nvSpPr>
        <p:spPr>
          <a:xfrm>
            <a:off x="1143000" y="5623560"/>
            <a:ext cx="6711696" cy="2011680"/>
          </a:xfrm>
          <a:prstGeom prst="rect">
            <a:avLst/>
          </a:prstGeom>
          <a:noFill/>
        </p:spPr>
        <p:txBody>
          <a:bodyPr wrap="square">
            <a:spAutoFit/>
          </a:bodyPr>
          <a:lstStyle/>
          <a:p>
            <a:pPr algn="ctr"/>
            <a:r>
              <a:rPr sz="1600" b="1" i="0">
                <a:solidFill>
                  <a:srgbClr val="002060"/>
                </a:solidFill>
                <a:latin typeface="Arial"/>
              </a:rPr>
              <a:t>Giao diện Web App HSA Master AI</a:t>
            </a:r>
          </a:p>
          <a:p>
            <a:pPr>
              <a:lnSpc>
                <a:spcPct val="125000"/>
              </a:lnSpc>
            </a:pPr>
            <a:r>
              <a:rPr sz="1350" b="0" i="0">
                <a:solidFill>
                  <a:srgbClr val="5A5A5A"/>
                </a:solidFill>
                <a:latin typeface="Arial"/>
              </a:rPr>
              <a:t>• Giao diện chia đôi màn hình (Split-Screen) đọc hiểu văn bản dài</a:t>
            </a:r>
            <a:br/>
            <a:r>
              <a:rPr sz="1350" b="0" i="0">
                <a:solidFill>
                  <a:srgbClr val="5A5A5A"/>
                </a:solidFill>
                <a:latin typeface="Arial"/>
              </a:rPr>
              <a:t>• 50 đề chuẩn hóa ma trận HSA &amp; 4.028 câu hỏi số hóa</a:t>
            </a:r>
            <a:br/>
            <a:r>
              <a:rPr sz="1350" b="0" i="0">
                <a:solidFill>
                  <a:srgbClr val="5A5A5A"/>
                </a:solidFill>
                <a:latin typeface="Arial"/>
              </a:rPr>
              <a:t>• Gia sư ảo AI chấm điểm &amp; giải thích 1-1 tức thì 24/7</a:t>
            </a:r>
          </a:p>
        </p:txBody>
      </p:sp>
      <p:sp>
        <p:nvSpPr>
          <p:cNvPr id="25" name="Rounded Rectangle 24"/>
          <p:cNvSpPr/>
          <p:nvPr/>
        </p:nvSpPr>
        <p:spPr>
          <a:xfrm>
            <a:off x="9326880" y="1920240"/>
            <a:ext cx="8046720" cy="658368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09760" y="2103120"/>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646920" y="2267712"/>
            <a:ext cx="621792" cy="62179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400" b="1" i="0">
                <a:solidFill>
                  <a:srgbClr val="FFFFFF"/>
                </a:solidFill>
                <a:latin typeface="Arial"/>
              </a:rPr>
              <a:t>1</a:t>
            </a:r>
          </a:p>
        </p:txBody>
      </p:sp>
      <p:sp>
        <p:nvSpPr>
          <p:cNvPr id="28" name="TextBox 27"/>
          <p:cNvSpPr txBox="1"/>
          <p:nvPr/>
        </p:nvSpPr>
        <p:spPr>
          <a:xfrm>
            <a:off x="10378440" y="2176272"/>
            <a:ext cx="6720840" cy="822960"/>
          </a:xfrm>
          <a:prstGeom prst="rect">
            <a:avLst/>
          </a:prstGeom>
          <a:noFill/>
        </p:spPr>
        <p:txBody>
          <a:bodyPr wrap="square">
            <a:spAutoFit/>
          </a:bodyPr>
          <a:lstStyle/>
          <a:p>
            <a:pPr>
              <a:lnSpc>
                <a:spcPct val="115000"/>
              </a:lnSpc>
            </a:pPr>
            <a:r>
              <a:rPr sz="1450" b="1" i="0">
                <a:solidFill>
                  <a:srgbClr val="002060"/>
                </a:solidFill>
                <a:latin typeface="Arial"/>
              </a:rPr>
              <a:t>Bối cảnh và vấn đề:
</a:t>
            </a:r>
            <a:r>
              <a:rPr sz="1300" b="0" i="0">
                <a:solidFill>
                  <a:srgbClr val="262626"/>
                </a:solidFill>
                <a:latin typeface="Arial"/>
              </a:rPr>
              <a:t>Nhu cầu ôn thi HSA &amp; 3 rào cản tại THPT Chương Mỹ A.</a:t>
            </a:r>
          </a:p>
        </p:txBody>
      </p:sp>
      <p:sp>
        <p:nvSpPr>
          <p:cNvPr id="29" name="Rounded Rectangle 28"/>
          <p:cNvSpPr/>
          <p:nvPr/>
        </p:nvSpPr>
        <p:spPr>
          <a:xfrm>
            <a:off x="9509760" y="3172968"/>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46920" y="3337560"/>
            <a:ext cx="621792" cy="62179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400" b="1" i="0">
                <a:solidFill>
                  <a:srgbClr val="FFFFFF"/>
                </a:solidFill>
                <a:latin typeface="Arial"/>
              </a:rPr>
              <a:t>2</a:t>
            </a:r>
          </a:p>
        </p:txBody>
      </p:sp>
      <p:sp>
        <p:nvSpPr>
          <p:cNvPr id="31" name="TextBox 30"/>
          <p:cNvSpPr txBox="1"/>
          <p:nvPr/>
        </p:nvSpPr>
        <p:spPr>
          <a:xfrm>
            <a:off x="10378440" y="3246120"/>
            <a:ext cx="6720840" cy="822960"/>
          </a:xfrm>
          <a:prstGeom prst="rect">
            <a:avLst/>
          </a:prstGeom>
          <a:noFill/>
        </p:spPr>
        <p:txBody>
          <a:bodyPr wrap="square">
            <a:spAutoFit/>
          </a:bodyPr>
          <a:lstStyle/>
          <a:p>
            <a:pPr>
              <a:lnSpc>
                <a:spcPct val="115000"/>
              </a:lnSpc>
            </a:pPr>
            <a:r>
              <a:rPr sz="1450" b="1" i="0">
                <a:solidFill>
                  <a:srgbClr val="002060"/>
                </a:solidFill>
                <a:latin typeface="Arial"/>
              </a:rPr>
              <a:t>Ý tưởng và giải pháp:
</a:t>
            </a:r>
            <a:r>
              <a:rPr sz="1300" b="0" i="0">
                <a:solidFill>
                  <a:srgbClr val="262626"/>
                </a:solidFill>
                <a:latin typeface="Arial"/>
              </a:rPr>
              <a:t>Web App HSA Master AI ứng dụng mô hình "AI Kép có trách nhiệm".</a:t>
            </a:r>
          </a:p>
        </p:txBody>
      </p:sp>
      <p:sp>
        <p:nvSpPr>
          <p:cNvPr id="32" name="Rounded Rectangle 31"/>
          <p:cNvSpPr/>
          <p:nvPr/>
        </p:nvSpPr>
        <p:spPr>
          <a:xfrm>
            <a:off x="9509760" y="4242816"/>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46920" y="4407408"/>
            <a:ext cx="621792" cy="62179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400" b="1" i="0">
                <a:solidFill>
                  <a:srgbClr val="FFFFFF"/>
                </a:solidFill>
                <a:latin typeface="Arial"/>
              </a:rPr>
              <a:t>3</a:t>
            </a:r>
          </a:p>
        </p:txBody>
      </p:sp>
      <p:sp>
        <p:nvSpPr>
          <p:cNvPr id="34" name="TextBox 33"/>
          <p:cNvSpPr txBox="1"/>
          <p:nvPr/>
        </p:nvSpPr>
        <p:spPr>
          <a:xfrm>
            <a:off x="10378440" y="4315968"/>
            <a:ext cx="6720840" cy="822960"/>
          </a:xfrm>
          <a:prstGeom prst="rect">
            <a:avLst/>
          </a:prstGeom>
          <a:noFill/>
        </p:spPr>
        <p:txBody>
          <a:bodyPr wrap="square">
            <a:spAutoFit/>
          </a:bodyPr>
          <a:lstStyle/>
          <a:p>
            <a:pPr>
              <a:lnSpc>
                <a:spcPct val="115000"/>
              </a:lnSpc>
            </a:pPr>
            <a:r>
              <a:rPr sz="1450" b="1" i="0">
                <a:solidFill>
                  <a:srgbClr val="002060"/>
                </a:solidFill>
                <a:latin typeface="Arial"/>
              </a:rPr>
              <a:t>Quy trình thực hiện:
</a:t>
            </a:r>
            <a:r>
              <a:rPr sz="1300" b="0" i="0">
                <a:solidFill>
                  <a:srgbClr val="262626"/>
                </a:solidFill>
                <a:latin typeface="Arial"/>
              </a:rPr>
              <a:t>Kết hợp Antigravity IDE, GitHub, MCP Tavily &amp; Gemini AI.</a:t>
            </a:r>
          </a:p>
        </p:txBody>
      </p:sp>
      <p:sp>
        <p:nvSpPr>
          <p:cNvPr id="35" name="Rounded Rectangle 34"/>
          <p:cNvSpPr/>
          <p:nvPr/>
        </p:nvSpPr>
        <p:spPr>
          <a:xfrm>
            <a:off x="9509760" y="5312664"/>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646920" y="5477256"/>
            <a:ext cx="621792" cy="62179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400" b="1" i="0">
                <a:solidFill>
                  <a:srgbClr val="FFFFFF"/>
                </a:solidFill>
                <a:latin typeface="Arial"/>
              </a:rPr>
              <a:t>4</a:t>
            </a:r>
          </a:p>
        </p:txBody>
      </p:sp>
      <p:sp>
        <p:nvSpPr>
          <p:cNvPr id="37" name="TextBox 36"/>
          <p:cNvSpPr txBox="1"/>
          <p:nvPr/>
        </p:nvSpPr>
        <p:spPr>
          <a:xfrm>
            <a:off x="10378440" y="5385816"/>
            <a:ext cx="6720840" cy="822960"/>
          </a:xfrm>
          <a:prstGeom prst="rect">
            <a:avLst/>
          </a:prstGeom>
          <a:noFill/>
        </p:spPr>
        <p:txBody>
          <a:bodyPr wrap="square">
            <a:spAutoFit/>
          </a:bodyPr>
          <a:lstStyle/>
          <a:p>
            <a:pPr>
              <a:lnSpc>
                <a:spcPct val="115000"/>
              </a:lnSpc>
            </a:pPr>
            <a:r>
              <a:rPr sz="1450" b="1" i="0">
                <a:solidFill>
                  <a:srgbClr val="002060"/>
                </a:solidFill>
                <a:latin typeface="Arial"/>
              </a:rPr>
              <a:t>Triển khai thực tế:
</a:t>
            </a:r>
            <a:r>
              <a:rPr sz="1300" b="0" i="0">
                <a:solidFill>
                  <a:srgbClr val="262626"/>
                </a:solidFill>
                <a:latin typeface="Arial"/>
              </a:rPr>
              <a:t>Thử nghiệm tại lớp 12A2 và 12A7 (Tháng 10/2026).</a:t>
            </a:r>
          </a:p>
        </p:txBody>
      </p:sp>
      <p:sp>
        <p:nvSpPr>
          <p:cNvPr id="38" name="Rounded Rectangle 37"/>
          <p:cNvSpPr/>
          <p:nvPr/>
        </p:nvSpPr>
        <p:spPr>
          <a:xfrm>
            <a:off x="9509760" y="6382512"/>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646920" y="6547104"/>
            <a:ext cx="621792" cy="62179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400" b="1" i="0">
                <a:solidFill>
                  <a:srgbClr val="FFFFFF"/>
                </a:solidFill>
                <a:latin typeface="Arial"/>
              </a:rPr>
              <a:t>5</a:t>
            </a:r>
          </a:p>
        </p:txBody>
      </p:sp>
      <p:sp>
        <p:nvSpPr>
          <p:cNvPr id="40" name="TextBox 39"/>
          <p:cNvSpPr txBox="1"/>
          <p:nvPr/>
        </p:nvSpPr>
        <p:spPr>
          <a:xfrm>
            <a:off x="10378440" y="6455664"/>
            <a:ext cx="6720840" cy="822960"/>
          </a:xfrm>
          <a:prstGeom prst="rect">
            <a:avLst/>
          </a:prstGeom>
          <a:noFill/>
        </p:spPr>
        <p:txBody>
          <a:bodyPr wrap="square">
            <a:spAutoFit/>
          </a:bodyPr>
          <a:lstStyle/>
          <a:p>
            <a:pPr>
              <a:lnSpc>
                <a:spcPct val="115000"/>
              </a:lnSpc>
            </a:pPr>
            <a:r>
              <a:rPr sz="1450" b="1" i="0">
                <a:solidFill>
                  <a:srgbClr val="002060"/>
                </a:solidFill>
                <a:latin typeface="Arial"/>
              </a:rPr>
              <a:t>Kết quả và tác động:
</a:t>
            </a:r>
            <a:r>
              <a:rPr sz="1300" b="0" i="0">
                <a:solidFill>
                  <a:srgbClr val="262626"/>
                </a:solidFill>
                <a:latin typeface="Arial"/>
              </a:rPr>
              <a:t>Cải thiện +24,7% điểm số, hỗ trợ phân tích chuyên đề yếu.</a:t>
            </a:r>
          </a:p>
        </p:txBody>
      </p:sp>
      <p:sp>
        <p:nvSpPr>
          <p:cNvPr id="41" name="Rounded Rectangle 40"/>
          <p:cNvSpPr/>
          <p:nvPr/>
        </p:nvSpPr>
        <p:spPr>
          <a:xfrm>
            <a:off x="9509760" y="7452360"/>
            <a:ext cx="7680960" cy="960120"/>
          </a:xfrm>
          <a:prstGeom prst="roundRect">
            <a:avLst/>
          </a:prstGeom>
          <a:solidFill>
            <a:srgbClr val="FFFFFF"/>
          </a:solidFill>
          <a:ln w="1270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646920" y="7616952"/>
            <a:ext cx="621792" cy="62179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r>
              <a:rPr sz="1400" b="1" i="0">
                <a:solidFill>
                  <a:srgbClr val="FFFFFF"/>
                </a:solidFill>
                <a:latin typeface="Arial"/>
              </a:rPr>
              <a:t>6</a:t>
            </a:r>
          </a:p>
        </p:txBody>
      </p:sp>
      <p:sp>
        <p:nvSpPr>
          <p:cNvPr id="43" name="TextBox 42"/>
          <p:cNvSpPr txBox="1"/>
          <p:nvPr/>
        </p:nvSpPr>
        <p:spPr>
          <a:xfrm>
            <a:off x="10378440" y="7525512"/>
            <a:ext cx="6720840" cy="822960"/>
          </a:xfrm>
          <a:prstGeom prst="rect">
            <a:avLst/>
          </a:prstGeom>
          <a:noFill/>
        </p:spPr>
        <p:txBody>
          <a:bodyPr wrap="square">
            <a:spAutoFit/>
          </a:bodyPr>
          <a:lstStyle/>
          <a:p>
            <a:pPr>
              <a:lnSpc>
                <a:spcPct val="115000"/>
              </a:lnSpc>
            </a:pPr>
            <a:r>
              <a:rPr sz="1450" b="1" i="0">
                <a:solidFill>
                  <a:srgbClr val="002060"/>
                </a:solidFill>
                <a:latin typeface="Arial"/>
              </a:rPr>
              <a:t>Thảo luận, tổng kết &amp; Tài liệu:
</a:t>
            </a:r>
            <a:r>
              <a:rPr sz="1300" b="0" i="0">
                <a:solidFill>
                  <a:srgbClr val="262626"/>
                </a:solidFill>
                <a:latin typeface="Arial"/>
              </a:rPr>
              <a:t>Tính bền vững (0đ chi phí) và khả năng nhân rộng.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TextBox 3"/>
          <p:cNvSpPr txBox="1"/>
          <p:nvPr/>
        </p:nvSpPr>
        <p:spPr>
          <a:xfrm>
            <a:off x="714375" y="293937"/>
            <a:ext cx="7606673" cy="810962"/>
          </a:xfrm>
          <a:prstGeom prst="rect">
            <a:avLst/>
          </a:prstGeom>
        </p:spPr>
        <p:txBody>
          <a:bodyPr lIns="0" tIns="0" rIns="0" bIns="0" rtlCol="0" anchor="t">
            <a:spAutoFit/>
          </a:bodyPr>
          <a:lstStyle/>
          <a:p>
            <a:pPr marL="0" lvl="0" indent="0" algn="l">
              <a:lnSpc>
                <a:spcPts val="6862"/>
              </a:lnSpc>
              <a:spcBef>
                <a:spcPct val="0"/>
              </a:spcBef>
            </a:pPr>
            <a:r>
              <a:rPr sz="4000" b="1" i="0">
                <a:solidFill>
                  <a:srgbClr val="002060"/>
                </a:solidFill>
                <a:latin typeface="Arial"/>
              </a:rPr>
              <a:t>BỐI CẢNH VÀ VẤN ĐỀ</a:t>
            </a:r>
          </a:p>
        </p:txBody>
      </p:sp>
      <p:sp>
        <p:nvSpPr>
          <p:cNvPr id="4" name="TextBox 4"/>
          <p:cNvSpPr txBox="1"/>
          <p:nvPr/>
        </p:nvSpPr>
        <p:spPr>
          <a:xfrm>
            <a:off x="714375" y="1393868"/>
            <a:ext cx="16868775" cy="7010124"/>
          </a:xfrm>
          <a:prstGeom prst="rect">
            <a:avLst/>
          </a:prstGeom>
        </p:spPr>
        <p:txBody>
          <a:bodyPr lIns="0" tIns="0" rIns="0" bIns="0" rtlCol="0" anchor="t">
            <a:spAutoFit/>
          </a:bodyPr>
          <a:lstStyle/>
          <a:p>
            <a:pPr lvl="0"/>
          </a:p>
          <a:p>
            <a:pPr lvl="0"/>
            <a:endParaRPr lang="vi-VN" sz="2800" dirty="0">
              <a:latin typeface="+mj-lt"/>
            </a:endParaRPr>
          </a:p>
          <a:p>
            <a:pPr lvl="0"/>
            <a:endParaRPr lang="en-US" sz="2800" dirty="0">
              <a:latin typeface="+mj-lt"/>
            </a:endParaRPr>
          </a:p>
          <a:p>
            <a:pPr lvl="0"/>
          </a:p>
          <a:p>
            <a:pPr lvl="0"/>
          </a:p>
          <a:p>
            <a:pPr marL="914400" lvl="1" indent="-457200">
              <a:buFontTx/>
              <a:buChar char="-"/>
            </a:pPr>
          </a:p>
          <a:p>
            <a:pPr algn="l">
              <a:lnSpc>
                <a:spcPts val="4661"/>
              </a:lnSpc>
            </a:pPr>
            <a:endParaRPr lang="en-US" sz="2800" dirty="0">
              <a:solidFill>
                <a:srgbClr val="000054"/>
              </a:solidFill>
              <a:latin typeface="+mj-lt"/>
              <a:ea typeface="Aptos"/>
              <a:cs typeface="Aptos"/>
              <a:sym typeface="Aptos"/>
            </a:endParaRPr>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
        <p:nvSpPr>
          <p:cNvPr id="6" name="Rounded Rectangle 5"/>
          <p:cNvSpPr/>
          <p:nvPr/>
        </p:nvSpPr>
        <p:spPr>
          <a:xfrm>
            <a:off x="914400" y="1920240"/>
            <a:ext cx="7955279" cy="64922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20240"/>
            <a:ext cx="7955279" cy="5029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1. THỰC TRẠNG &amp; RÀO CẢN THỰC TẾ</a:t>
            </a:r>
          </a:p>
        </p:txBody>
      </p:sp>
      <p:sp>
        <p:nvSpPr>
          <p:cNvPr id="8" name="TextBox 7"/>
          <p:cNvSpPr txBox="1"/>
          <p:nvPr/>
        </p:nvSpPr>
        <p:spPr>
          <a:xfrm>
            <a:off x="1097280" y="2560320"/>
            <a:ext cx="7589520" cy="5669280"/>
          </a:xfrm>
          <a:prstGeom prst="rect">
            <a:avLst/>
          </a:prstGeom>
          <a:noFill/>
        </p:spPr>
        <p:txBody>
          <a:bodyPr wrap="square">
            <a:spAutoFit/>
          </a:bodyPr>
          <a:lstStyle/>
          <a:p>
            <a:pPr>
              <a:lnSpc>
                <a:spcPct val="120000"/>
              </a:lnSpc>
              <a:spcAft>
                <a:spcPts val="1200"/>
              </a:spcAft>
            </a:pPr>
            <a:r>
              <a:rPr sz="1500" b="1" i="0">
                <a:solidFill>
                  <a:srgbClr val="0046A0"/>
                </a:solidFill>
                <a:latin typeface="Arial"/>
              </a:rPr>
              <a:t>• </a:t>
            </a:r>
            <a:r>
              <a:rPr sz="1500" b="1" i="0">
                <a:solidFill>
                  <a:srgbClr val="002060"/>
                </a:solidFill>
                <a:latin typeface="Arial"/>
              </a:rPr>
              <a:t>Kỳ thi ĐGNL ĐHQGHN (HSA) đặc biệt quan trọng: </a:t>
            </a:r>
            <a:r>
              <a:rPr sz="1450" b="0" i="0">
                <a:solidFill>
                  <a:srgbClr val="262626"/>
                </a:solidFill>
                <a:latin typeface="Arial"/>
              </a:rPr>
              <a:t>Là phương thức xét tuyển đại học hàng đầu của học sinh khối 12 THPT Chương Mỹ A. Phần thi Ngôn ngữ – Văn học chiếm 1/3 tổng điểm (50 câu/60 phút) với nhiều ngữ liệu văn bản rất dài.</a:t>
            </a:r>
          </a:p>
          <a:p>
            <a:pPr>
              <a:lnSpc>
                <a:spcPct val="120000"/>
              </a:lnSpc>
              <a:spcAft>
                <a:spcPts val="1200"/>
              </a:spcAft>
            </a:pPr>
            <a:r>
              <a:rPr sz="1500" b="1" i="0">
                <a:solidFill>
                  <a:srgbClr val="0046A0"/>
                </a:solidFill>
                <a:latin typeface="Arial"/>
              </a:rPr>
              <a:t>• </a:t>
            </a:r>
            <a:r>
              <a:rPr sz="1500" b="1" i="0">
                <a:solidFill>
                  <a:srgbClr val="002060"/>
                </a:solidFill>
                <a:latin typeface="Arial"/>
              </a:rPr>
              <a:t>Không thuộc chương trình dạy chính khóa: </a:t>
            </a:r>
            <a:r>
              <a:rPr sz="1450" b="0" i="0">
                <a:solidFill>
                  <a:srgbClr val="262626"/>
                </a:solidFill>
                <a:latin typeface="Arial"/>
              </a:rPr>
              <a:t>Thời lượng giảng dạy trên lớp phải tập trung cho chương trình chuẩn phổ thông; giáo viên và học sinh không có thời lượng ôn luyện chuyên biệt, bắt buộc học sinh phải tự học ngoài giờ.</a:t>
            </a:r>
          </a:p>
          <a:p>
            <a:pPr>
              <a:lnSpc>
                <a:spcPct val="120000"/>
              </a:lnSpc>
              <a:spcAft>
                <a:spcPts val="1200"/>
              </a:spcAft>
            </a:pPr>
            <a:r>
              <a:rPr sz="1500" b="1" i="0">
                <a:solidFill>
                  <a:srgbClr val="0046A0"/>
                </a:solidFill>
                <a:latin typeface="Arial"/>
              </a:rPr>
              <a:t>• </a:t>
            </a:r>
            <a:r>
              <a:rPr sz="1500" b="1" i="0">
                <a:solidFill>
                  <a:srgbClr val="002060"/>
                </a:solidFill>
                <a:latin typeface="Arial"/>
              </a:rPr>
              <a:t>Thiếu công cụ tự học định hướng: </a:t>
            </a:r>
            <a:r>
              <a:rPr sz="1450" b="0" i="0">
                <a:solidFill>
                  <a:srgbClr val="262626"/>
                </a:solidFill>
                <a:latin typeface="Arial"/>
              </a:rPr>
              <a:t>Đề giấy hoặc Google Forms cuộn trang mỏi mắt với nhóm câu hỏi chùm; chỉ có đáp án trắc nghiệm A/B/C/D mà hoàn toàn không có lời giải thích sâu vì sao làm sai.</a:t>
            </a:r>
          </a:p>
          <a:p>
            <a:pPr>
              <a:lnSpc>
                <a:spcPct val="120000"/>
              </a:lnSpc>
              <a:spcAft>
                <a:spcPts val="1200"/>
              </a:spcAft>
            </a:pPr>
            <a:r>
              <a:rPr sz="1500" b="1" i="0">
                <a:solidFill>
                  <a:srgbClr val="0046A0"/>
                </a:solidFill>
                <a:latin typeface="Arial"/>
              </a:rPr>
              <a:t>• </a:t>
            </a:r>
            <a:r>
              <a:rPr sz="1500" b="1" i="0">
                <a:solidFill>
                  <a:srgbClr val="002060"/>
                </a:solidFill>
                <a:latin typeface="Arial"/>
              </a:rPr>
              <a:t>Chi phí ôn thi đắt đỏ: </a:t>
            </a:r>
            <a:r>
              <a:rPr sz="1450" b="0" i="0">
                <a:solidFill>
                  <a:srgbClr val="262626"/>
                </a:solidFill>
                <a:latin typeface="Arial"/>
              </a:rPr>
              <a:t>Các khóa luyện thi HSA tại các trung tâm thường thu học phí rất cao, tạo áp lực kinh tế nặng nề cho học sinh và phụ huynh khu vực ngoại thành.</a:t>
            </a:r>
          </a:p>
        </p:txBody>
      </p:sp>
      <p:sp>
        <p:nvSpPr>
          <p:cNvPr id="9" name="Rounded Rectangle 8"/>
          <p:cNvSpPr/>
          <p:nvPr/>
        </p:nvSpPr>
        <p:spPr>
          <a:xfrm>
            <a:off x="9418320" y="1920240"/>
            <a:ext cx="7955279" cy="64922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418320" y="1920240"/>
            <a:ext cx="7955279" cy="50292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2. SỐ LIỆU KHẢO SÁT THỰC TẾ (LỚP 12A2 &amp; 12A7)</a:t>
            </a:r>
          </a:p>
        </p:txBody>
      </p:sp>
      <p:sp>
        <p:nvSpPr>
          <p:cNvPr id="11" name="TextBox 10"/>
          <p:cNvSpPr txBox="1"/>
          <p:nvPr/>
        </p:nvSpPr>
        <p:spPr>
          <a:xfrm>
            <a:off x="9601200" y="2560320"/>
            <a:ext cx="7589520" cy="5669280"/>
          </a:xfrm>
          <a:prstGeom prst="rect">
            <a:avLst/>
          </a:prstGeom>
          <a:noFill/>
        </p:spPr>
        <p:txBody>
          <a:bodyPr wrap="square">
            <a:spAutoFit/>
          </a:bodyPr>
          <a:lstStyle/>
          <a:p>
            <a:pPr>
              <a:lnSpc>
                <a:spcPct val="125000"/>
              </a:lnSpc>
              <a:spcAft>
                <a:spcPts val="1400"/>
              </a:spcAft>
            </a:pPr>
            <a:r>
              <a:rPr sz="1500" b="1" i="0">
                <a:solidFill>
                  <a:srgbClr val="C00000"/>
                </a:solidFill>
                <a:latin typeface="Arial"/>
              </a:rPr>
              <a:t>• </a:t>
            </a:r>
            <a:r>
              <a:rPr sz="1550" b="1" i="0">
                <a:solidFill>
                  <a:srgbClr val="C00000"/>
                </a:solidFill>
                <a:latin typeface="Arial"/>
              </a:rPr>
              <a:t>&gt; 80% Học sinh có nguyện vọng thi HSA: </a:t>
            </a:r>
            <a:r>
              <a:rPr sz="1450" b="0" i="0">
                <a:solidFill>
                  <a:srgbClr val="262626"/>
                </a:solidFill>
                <a:latin typeface="Arial"/>
              </a:rPr>
              <a:t>Qua khảo sát thực tế tại 2 lớp 12A2 &amp; 12A7, hơn 80% học sinh xác định HSA là mục tiêu xét tuyển đại học trọng điểm nhưng hoàn toàn thiếu học liệu chuẩn.</a:t>
            </a:r>
          </a:p>
          <a:p>
            <a:pPr>
              <a:lnSpc>
                <a:spcPct val="125000"/>
              </a:lnSpc>
              <a:spcAft>
                <a:spcPts val="1400"/>
              </a:spcAft>
            </a:pPr>
            <a:r>
              <a:rPr sz="1500" b="1" i="0">
                <a:solidFill>
                  <a:srgbClr val="C00000"/>
                </a:solidFill>
                <a:latin typeface="Arial"/>
              </a:rPr>
              <a:t>• </a:t>
            </a:r>
            <a:r>
              <a:rPr sz="1550" b="1" i="0">
                <a:solidFill>
                  <a:srgbClr val="C00000"/>
                </a:solidFill>
                <a:latin typeface="Arial"/>
              </a:rPr>
              <a:t>78% Gặp khó khăn đọc dài &amp; lặp lại lỗi sai: </a:t>
            </a:r>
            <a:r>
              <a:rPr sz="1450" b="0" i="0">
                <a:solidFill>
                  <a:srgbClr val="262626"/>
                </a:solidFill>
                <a:latin typeface="Arial"/>
              </a:rPr>
              <a:t>Học sinh rất dễ nản lòng khi gặp các văn bản đọc hiểu chùm dài; thường xuyên lặp lại lỗi sai ở phần Tiếng Việt &amp; Ngữ pháp do không có người giải thích tức thì ngoài giờ học.</a:t>
            </a:r>
          </a:p>
          <a:p>
            <a:pPr>
              <a:lnSpc>
                <a:spcPct val="125000"/>
              </a:lnSpc>
              <a:spcAft>
                <a:spcPts val="1400"/>
              </a:spcAft>
            </a:pPr>
            <a:r>
              <a:rPr sz="1500" b="1" i="0">
                <a:solidFill>
                  <a:srgbClr val="C00000"/>
                </a:solidFill>
                <a:latin typeface="Arial"/>
              </a:rPr>
              <a:t>• </a:t>
            </a:r>
            <a:r>
              <a:rPr sz="1550" b="1" i="0">
                <a:solidFill>
                  <a:srgbClr val="C00000"/>
                </a:solidFill>
                <a:latin typeface="Arial"/>
              </a:rPr>
              <a:t>Rủi ro khi tự dùng ChatGPT ngoài luồng: </a:t>
            </a:r>
            <a:r>
              <a:rPr sz="1450" b="0" i="0">
                <a:solidFill>
                  <a:srgbClr val="262626"/>
                </a:solidFill>
                <a:latin typeface="Arial"/>
              </a:rPr>
              <a:t>Học sinh mất nhiều thời gian chụp/copy-paste đề; ChatGPT tự do dễ bịa đặt kiến thức văn học (ảo giác AI) hoặc làm lộ đáp án, gây tâm lý ỷ lại và học vẹt.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4375" y="2027149"/>
            <a:ext cx="16868775" cy="8747459"/>
          </a:xfrm>
          <a:prstGeom prst="rect">
            <a:avLst/>
          </a:prstGeom>
        </p:spPr>
        <p:txBody>
          <a:bodyPr lIns="0" tIns="0" rIns="0" bIns="0" rtlCol="0" anchor="t">
            <a:spAutoFit/>
          </a:bodyPr>
          <a:lstStyle/>
          <a:p>
            <a:pPr lvl="0"/>
          </a:p>
          <a:p>
            <a:pPr lvl="0"/>
            <a:endParaRPr lang="en-US" sz="2000" dirty="0"/>
          </a:p>
          <a:p>
            <a:pPr lvl="1"/>
          </a:p>
          <a:p>
            <a:pPr lvl="1"/>
          </a:p>
          <a:p>
            <a:pPr lvl="1"/>
            <a:endParaRPr lang="en-US" sz="3200" dirty="0">
              <a:solidFill>
                <a:srgbClr val="000054"/>
              </a:solidFill>
              <a:latin typeface="Aptos"/>
              <a:ea typeface="Aptos"/>
              <a:cs typeface="Aptos"/>
              <a:sym typeface="Aptos"/>
            </a:endParaRPr>
          </a:p>
          <a:p>
            <a:pPr marL="653460" lvl="1" indent="-326730" algn="l">
              <a:lnSpc>
                <a:spcPts val="4661"/>
              </a:lnSpc>
              <a:buFont typeface="Arial"/>
              <a:buChar char="•"/>
            </a:pPr>
          </a:p>
          <a:p>
            <a:pPr marL="898230" lvl="1" indent="-571500" algn="l">
              <a:lnSpc>
                <a:spcPts val="4661"/>
              </a:lnSpc>
              <a:buFontTx/>
              <a:buChar char="-"/>
            </a:pPr>
          </a:p>
          <a:p>
            <a:pPr marL="898230" lvl="1" indent="-571500" algn="l">
              <a:lnSpc>
                <a:spcPts val="4661"/>
              </a:lnSpc>
              <a:buFontTx/>
              <a:buChar char="-"/>
            </a:pPr>
          </a:p>
          <a:p>
            <a:pPr marL="898230" lvl="1" indent="-571500" algn="l">
              <a:lnSpc>
                <a:spcPts val="4661"/>
              </a:lnSpc>
              <a:buFontTx/>
              <a:buChar char="-"/>
            </a:pPr>
          </a:p>
          <a:p>
            <a:pPr marL="898230" lvl="1" indent="-571500">
              <a:lnSpc>
                <a:spcPct val="100000"/>
              </a:lnSpc>
              <a:buFontTx/>
              <a:buChar char="-"/>
            </a:pPr>
          </a:p>
          <a:p>
            <a:pPr marL="898230" lvl="1" indent="-571500">
              <a:lnSpc>
                <a:spcPts val="4661"/>
              </a:lnSpc>
              <a:buFontTx/>
              <a:buChar char="-"/>
            </a:pPr>
          </a:p>
          <a:p>
            <a:pPr marL="898230" lvl="1" indent="-571500">
              <a:lnSpc>
                <a:spcPts val="4661"/>
              </a:lnSpc>
              <a:buFontTx/>
              <a:buChar char="-"/>
            </a:pPr>
            <a:endParaRPr lang="en-US" sz="3200" dirty="0">
              <a:solidFill>
                <a:srgbClr val="000054"/>
              </a:solidFill>
              <a:latin typeface="Aptos"/>
              <a:ea typeface="Aptos"/>
              <a:cs typeface="Aptos"/>
              <a:sym typeface="Aptos"/>
            </a:endParaRPr>
          </a:p>
          <a:p>
            <a:pPr marL="1306919" lvl="2" indent="-435640" algn="l">
              <a:lnSpc>
                <a:spcPts val="4661"/>
              </a:lnSpc>
              <a:buFont typeface="Arial"/>
              <a:buChar char="⚬"/>
            </a:pPr>
            <a:endParaRPr lang="en-US" sz="3200" dirty="0">
              <a:solidFill>
                <a:srgbClr val="000054"/>
              </a:solidFill>
              <a:latin typeface="Aptos"/>
              <a:ea typeface="Aptos"/>
              <a:cs typeface="Aptos"/>
              <a:sym typeface="Aptos"/>
            </a:endParaRPr>
          </a:p>
          <a:p>
            <a:pPr algn="l">
              <a:lnSpc>
                <a:spcPts val="4661"/>
              </a:lnSpc>
            </a:pPr>
            <a:endParaRPr lang="en-US" sz="3200" dirty="0">
              <a:solidFill>
                <a:srgbClr val="000054"/>
              </a:solidFill>
              <a:latin typeface="Aptos"/>
              <a:ea typeface="Aptos"/>
              <a:cs typeface="Aptos"/>
              <a:sym typeface="Aptos"/>
            </a:endParaRPr>
          </a:p>
        </p:txBody>
      </p:sp>
      <p:sp>
        <p:nvSpPr>
          <p:cNvPr id="3" name="AutoShape 3"/>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4" name="TextBox 4"/>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5" name="Freeform 5"/>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5"/>
            <a:stretch>
              <a:fillRect t="-616917"/>
            </a:stretch>
          </a:blipFill>
        </p:spPr>
        <p:txBody>
          <a:bodyPr/>
          <a:lstStyle/>
          <a:p>
            <a:endParaRPr lang="en-AU"/>
          </a:p>
        </p:txBody>
      </p:sp>
      <p:sp>
        <p:nvSpPr>
          <p:cNvPr id="6" name="TextBox 6"/>
          <p:cNvSpPr txBox="1"/>
          <p:nvPr/>
        </p:nvSpPr>
        <p:spPr>
          <a:xfrm>
            <a:off x="882811" y="1005632"/>
            <a:ext cx="16459200" cy="810962"/>
          </a:xfrm>
          <a:prstGeom prst="rect">
            <a:avLst/>
          </a:prstGeom>
        </p:spPr>
        <p:txBody>
          <a:bodyPr lIns="0" tIns="0" rIns="0" bIns="0" rtlCol="0" anchor="t">
            <a:spAutoFit/>
          </a:bodyPr>
          <a:lstStyle/>
          <a:p>
            <a:pPr marL="0" lvl="0" indent="0" algn="l">
              <a:lnSpc>
                <a:spcPts val="6862"/>
              </a:lnSpc>
              <a:spcBef>
                <a:spcPct val="0"/>
              </a:spcBef>
            </a:pPr>
            <a:r>
              <a:rPr sz="3400" b="1" i="0">
                <a:solidFill>
                  <a:srgbClr val="002060"/>
                </a:solidFill>
                <a:latin typeface="Arial"/>
              </a:rPr>
              <a:t>Ý TƯỞNG VÀ GIẢI PHÁP: MÔ HÌNH "AI KÉP CÓ TRÁCH NHIỆM"</a:t>
            </a:r>
          </a:p>
        </p:txBody>
      </p:sp>
      <p:sp>
        <p:nvSpPr>
          <p:cNvPr id="7" name="Rounded Rectangle 6"/>
          <p:cNvSpPr/>
          <p:nvPr/>
        </p:nvSpPr>
        <p:spPr>
          <a:xfrm>
            <a:off x="914400" y="1828800"/>
            <a:ext cx="16459200" cy="1280160"/>
          </a:xfrm>
          <a:prstGeom prst="roundRect">
            <a:avLst/>
          </a:prstGeom>
          <a:solidFill>
            <a:srgbClr val="F0F6FF"/>
          </a:solidFill>
          <a:ln w="19050">
            <a:solidFill>
              <a:srgbClr val="004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74519"/>
            <a:ext cx="16093440" cy="1188720"/>
          </a:xfrm>
          <a:prstGeom prst="rect">
            <a:avLst/>
          </a:prstGeom>
          <a:noFill/>
        </p:spPr>
        <p:txBody>
          <a:bodyPr wrap="square">
            <a:spAutoFit/>
          </a:bodyPr>
          <a:lstStyle/>
          <a:p>
            <a:pPr>
              <a:lnSpc>
                <a:spcPct val="120000"/>
              </a:lnSpc>
            </a:pPr>
            <a:r>
              <a:rPr sz="1600" b="1" i="0">
                <a:solidFill>
                  <a:srgbClr val="002060"/>
                </a:solidFill>
                <a:latin typeface="Arial"/>
              </a:rPr>
              <a:t>Giải pháp đột phá: </a:t>
            </a:r>
            <a:r>
              <a:rPr sz="1600" b="0" i="0">
                <a:solidFill>
                  <a:srgbClr val="262626"/>
                </a:solidFill>
                <a:latin typeface="Arial"/>
              </a:rPr>
              <a:t>Xây dựng Web App chuyên biệt "HSA Master AI" giải quyết toàn diện bài toán tự học Ngữ Văn.</a:t>
            </a:r>
          </a:p>
          <a:p>
            <a:pPr>
              <a:lnSpc>
                <a:spcPct val="120000"/>
              </a:lnSpc>
            </a:pPr>
            <a:r>
              <a:rPr sz="1500" b="1" i="0">
                <a:solidFill>
                  <a:srgbClr val="C00000"/>
                </a:solidFill>
                <a:latin typeface="Arial"/>
              </a:rPr>
              <a:t>Công cụ &amp; Nền tảng: </a:t>
            </a:r>
            <a:r>
              <a:rPr sz="1500" b="0" i="0">
                <a:solidFill>
                  <a:srgbClr val="262626"/>
                </a:solidFill>
                <a:latin typeface="Arial"/>
              </a:rPr>
              <a:t>Google Antigravity IDE (Agentic AI), GitHub &amp; GitHub Pages, MCP Tavily Search và Gemini API.</a:t>
            </a:r>
          </a:p>
        </p:txBody>
      </p:sp>
      <p:sp>
        <p:nvSpPr>
          <p:cNvPr id="9" name="Rounded Rectangle 8"/>
          <p:cNvSpPr/>
          <p:nvPr/>
        </p:nvSpPr>
        <p:spPr>
          <a:xfrm>
            <a:off x="914400" y="3291840"/>
            <a:ext cx="8046720" cy="51206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3291840"/>
            <a:ext cx="8046720" cy="5029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GIÁ TRỊ VƯỢT TRỘI SO VỚI TRUYỀN THỐNG</a:t>
            </a:r>
          </a:p>
        </p:txBody>
      </p:sp>
      <p:sp>
        <p:nvSpPr>
          <p:cNvPr id="11" name="TextBox 10"/>
          <p:cNvSpPr txBox="1"/>
          <p:nvPr/>
        </p:nvSpPr>
        <p:spPr>
          <a:xfrm>
            <a:off x="1097280" y="3931920"/>
            <a:ext cx="7680960" cy="4297680"/>
          </a:xfrm>
          <a:prstGeom prst="rect">
            <a:avLst/>
          </a:prstGeom>
          <a:noFill/>
        </p:spPr>
        <p:txBody>
          <a:bodyPr wrap="square">
            <a:spAutoFit/>
          </a:bodyPr>
          <a:lstStyle/>
          <a:p>
            <a:pPr>
              <a:lnSpc>
                <a:spcPct val="120000"/>
              </a:lnSpc>
              <a:spcAft>
                <a:spcPts val="1000"/>
              </a:spcAft>
            </a:pPr>
            <a:r>
              <a:rPr sz="1500" b="1" i="0">
                <a:solidFill>
                  <a:srgbClr val="0046A0"/>
                </a:solidFill>
                <a:latin typeface="Arial"/>
              </a:rPr>
              <a:t>• </a:t>
            </a:r>
            <a:r>
              <a:rPr sz="1500" b="1" i="0">
                <a:solidFill>
                  <a:srgbClr val="002060"/>
                </a:solidFill>
                <a:latin typeface="Arial"/>
              </a:rPr>
              <a:t>Kho đề trộn tự động chuẩn ma trận ĐHQGHN: </a:t>
            </a:r>
            <a:r>
              <a:rPr sz="1450" b="0" i="0">
                <a:solidFill>
                  <a:srgbClr val="262626"/>
                </a:solidFill>
                <a:latin typeface="Arial"/>
              </a:rPr>
              <a:t>Hệ thống tự động bốc tách, phân loại câu hỏi theo 4 mức độ nhận thức (Nhận biết – Thông hiểu – Vận dụng – Vận dụng cao), tạo đề thi phong phú không trùng lặp.</a:t>
            </a:r>
          </a:p>
          <a:p>
            <a:pPr>
              <a:lnSpc>
                <a:spcPct val="120000"/>
              </a:lnSpc>
              <a:spcAft>
                <a:spcPts val="1000"/>
              </a:spcAft>
            </a:pPr>
            <a:r>
              <a:rPr sz="1500" b="1" i="0">
                <a:solidFill>
                  <a:srgbClr val="0046A0"/>
                </a:solidFill>
                <a:latin typeface="Arial"/>
              </a:rPr>
              <a:t>• </a:t>
            </a:r>
            <a:r>
              <a:rPr sz="1500" b="1" i="0">
                <a:solidFill>
                  <a:srgbClr val="002060"/>
                </a:solidFill>
                <a:latin typeface="Arial"/>
              </a:rPr>
              <a:t>Giao diện Chia đôi màn hình (Split-Screen): </a:t>
            </a:r>
            <a:r>
              <a:rPr sz="1450" b="0" i="0">
                <a:solidFill>
                  <a:srgbClr val="262626"/>
                </a:solidFill>
                <a:latin typeface="Arial"/>
              </a:rPr>
              <a:t>Ngữ liệu bài đọc dài được cố định bên trái, nhóm câu hỏi chùm hiển thị bên phải. Học sinh dễ dàng đối chiếu trực tiếp, khắc phục hoàn toàn nhược điểm cuộn trang mỏi mắt của Google Forms.</a:t>
            </a:r>
          </a:p>
          <a:p>
            <a:pPr>
              <a:lnSpc>
                <a:spcPct val="120000"/>
              </a:lnSpc>
              <a:spcAft>
                <a:spcPts val="1000"/>
              </a:spcAft>
            </a:pPr>
            <a:r>
              <a:rPr sz="1500" b="1" i="0">
                <a:solidFill>
                  <a:srgbClr val="0046A0"/>
                </a:solidFill>
                <a:latin typeface="Arial"/>
              </a:rPr>
              <a:t>• </a:t>
            </a:r>
            <a:r>
              <a:rPr sz="1500" b="1" i="0">
                <a:solidFill>
                  <a:srgbClr val="002060"/>
                </a:solidFill>
                <a:latin typeface="Arial"/>
              </a:rPr>
              <a:t>Gia sư AI (Context-Aware AI Tutor): </a:t>
            </a:r>
            <a:r>
              <a:rPr sz="1450" b="0" i="0">
                <a:solidFill>
                  <a:srgbClr val="262626"/>
                </a:solidFill>
                <a:latin typeface="Arial"/>
              </a:rPr>
              <a:t>Tự động nạp sẵn ngữ cảnh văn bản và câu hỏi sai để phân tích cặn kẽ 1-1 ngay sau khi nộp bài, giúp học sinh sửa lỗi sai lập tức mà không cần chờ giáo viên.</a:t>
            </a:r>
          </a:p>
        </p:txBody>
      </p:sp>
      <p:sp>
        <p:nvSpPr>
          <p:cNvPr id="12" name="Rounded Rectangle 11"/>
          <p:cNvSpPr/>
          <p:nvPr/>
        </p:nvSpPr>
        <p:spPr>
          <a:xfrm>
            <a:off x="9326880" y="3291840"/>
            <a:ext cx="8046720" cy="51206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326880" y="3291840"/>
            <a:ext cx="8046720" cy="50292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ĐẠO ĐỨC &amp; TRÍ TUỆ NHÂN TẠO CÓ TRÁCH NHIỆM</a:t>
            </a:r>
          </a:p>
        </p:txBody>
      </p:sp>
      <p:sp>
        <p:nvSpPr>
          <p:cNvPr id="14" name="TextBox 13"/>
          <p:cNvSpPr txBox="1"/>
          <p:nvPr/>
        </p:nvSpPr>
        <p:spPr>
          <a:xfrm>
            <a:off x="9509760" y="3931920"/>
            <a:ext cx="7680960" cy="4297680"/>
          </a:xfrm>
          <a:prstGeom prst="rect">
            <a:avLst/>
          </a:prstGeom>
          <a:noFill/>
        </p:spPr>
        <p:txBody>
          <a:bodyPr wrap="square">
            <a:spAutoFit/>
          </a:bodyPr>
          <a:lstStyle/>
          <a:p>
            <a:pPr>
              <a:lnSpc>
                <a:spcPct val="120000"/>
              </a:lnSpc>
              <a:spcAft>
                <a:spcPts val="1000"/>
              </a:spcAft>
            </a:pPr>
            <a:r>
              <a:rPr sz="1500" b="1" i="0">
                <a:solidFill>
                  <a:srgbClr val="C00000"/>
                </a:solidFill>
                <a:latin typeface="Arial"/>
              </a:rPr>
              <a:t>• </a:t>
            </a:r>
            <a:r>
              <a:rPr sz="1500" b="1" i="0">
                <a:solidFill>
                  <a:srgbClr val="C00000"/>
                </a:solidFill>
                <a:latin typeface="Arial"/>
              </a:rPr>
              <a:t>Chống AI bịa đặt kiến thức (Anti-Hallucination): </a:t>
            </a:r>
            <a:r>
              <a:rPr sz="1450" b="0" i="0">
                <a:solidFill>
                  <a:srgbClr val="262626"/>
                </a:solidFill>
                <a:latin typeface="Arial"/>
              </a:rPr>
              <a:t>Sử dụng 100% đề gốc do Tổ chuyên môn biên soạn. AI đóng vai trò tra cứu và giải bổ sung các câu khuyết dưới sự kiểm duyệt chặt chẽ của giáo viên trước khi phát hành.</a:t>
            </a:r>
          </a:p>
          <a:p>
            <a:pPr>
              <a:lnSpc>
                <a:spcPct val="120000"/>
              </a:lnSpc>
              <a:spcAft>
                <a:spcPts val="1000"/>
              </a:spcAft>
            </a:pPr>
            <a:r>
              <a:rPr sz="1500" b="1" i="0">
                <a:solidFill>
                  <a:srgbClr val="C00000"/>
                </a:solidFill>
                <a:latin typeface="Arial"/>
              </a:rPr>
              <a:t>• </a:t>
            </a:r>
            <a:r>
              <a:rPr sz="1500" b="1" i="0">
                <a:solidFill>
                  <a:srgbClr val="C00000"/>
                </a:solidFill>
                <a:latin typeface="Arial"/>
              </a:rPr>
              <a:t>Chống gian lận học thuật: </a:t>
            </a:r>
            <a:r>
              <a:rPr sz="1450" b="0" i="0">
                <a:solidFill>
                  <a:srgbClr val="262626"/>
                </a:solidFill>
                <a:latin typeface="Arial"/>
              </a:rPr>
              <a:t>Tự động khóa hoàn toàn Gia sư AI trong suốt 60 phút học sinh làm bài thi thử bấm giờ; chỉ mở khóa khi học sinh luyện tập chuyên đề tự do hoặc sau khi đã nộp bài để xem phân tích.</a:t>
            </a:r>
          </a:p>
          <a:p>
            <a:pPr>
              <a:lnSpc>
                <a:spcPct val="120000"/>
              </a:lnSpc>
              <a:spcAft>
                <a:spcPts val="1000"/>
              </a:spcAft>
            </a:pPr>
            <a:r>
              <a:rPr sz="1500" b="1" i="0">
                <a:solidFill>
                  <a:srgbClr val="C00000"/>
                </a:solidFill>
                <a:latin typeface="Arial"/>
              </a:rPr>
              <a:t>• </a:t>
            </a:r>
            <a:r>
              <a:rPr sz="1500" b="1" i="0">
                <a:solidFill>
                  <a:srgbClr val="C00000"/>
                </a:solidFill>
                <a:latin typeface="Arial"/>
              </a:rPr>
              <a:t>Khuyến khích tư duy phản biện: </a:t>
            </a:r>
            <a:r>
              <a:rPr sz="1450" b="0" i="0">
                <a:solidFill>
                  <a:srgbClr val="262626"/>
                </a:solidFill>
                <a:latin typeface="Arial"/>
              </a:rPr>
              <a:t>AI không chỉ đưa ra đáp án đúng mà tập trung giải thích bản chất câu sai, giúp học sinh phát triển năng lực tự học và tư duy ngôn ngữ sâu sắc.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38236-EF89-4CDE-7290-E55326EEF29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C6F2D5D-A6B3-9DA6-6444-33F41E02D578}"/>
              </a:ext>
            </a:extLst>
          </p:cNvPr>
          <p:cNvSpPr txBox="1"/>
          <p:nvPr/>
        </p:nvSpPr>
        <p:spPr>
          <a:xfrm>
            <a:off x="714375" y="2027149"/>
            <a:ext cx="16868775" cy="6765250"/>
          </a:xfrm>
          <a:prstGeom prst="rect">
            <a:avLst/>
          </a:prstGeom>
        </p:spPr>
        <p:txBody>
          <a:bodyPr lIns="0" tIns="0" rIns="0" bIns="0" rtlCol="0" anchor="t">
            <a:spAutoFit/>
          </a:bodyPr>
          <a:lstStyle/>
          <a:p>
            <a:pPr lvl="0"/>
            <a:endParaRPr lang="vi-VN" sz="3600" dirty="0"/>
          </a:p>
          <a:p>
            <a:pPr lvl="0"/>
            <a:endParaRPr lang="en-US" sz="3600" dirty="0"/>
          </a:p>
          <a:p>
            <a:pPr lvl="1"/>
          </a:p>
          <a:p>
            <a:pPr lvl="1"/>
          </a:p>
          <a:p>
            <a:pPr lvl="1"/>
            <a:endParaRPr lang="en-US" sz="4800" dirty="0">
              <a:solidFill>
                <a:srgbClr val="000054"/>
              </a:solidFill>
              <a:latin typeface="Aptos"/>
              <a:ea typeface="Aptos"/>
              <a:cs typeface="Aptos"/>
              <a:sym typeface="Aptos"/>
            </a:endParaRPr>
          </a:p>
          <a:p>
            <a:pPr marL="653460" lvl="1" indent="-326730" algn="l">
              <a:lnSpc>
                <a:spcPts val="4661"/>
              </a:lnSpc>
              <a:buFont typeface="Arial"/>
              <a:buChar char="•"/>
            </a:pPr>
            <a:endParaRPr lang="en-US" sz="4800" dirty="0">
              <a:solidFill>
                <a:srgbClr val="000054"/>
              </a:solidFill>
              <a:latin typeface="Aptos"/>
              <a:ea typeface="Aptos"/>
              <a:cs typeface="Aptos"/>
              <a:sym typeface="Aptos"/>
            </a:endParaRPr>
          </a:p>
          <a:p>
            <a:pPr algn="l">
              <a:lnSpc>
                <a:spcPts val="4661"/>
              </a:lnSpc>
            </a:pPr>
            <a:endParaRPr lang="en-US" sz="4800" dirty="0">
              <a:solidFill>
                <a:srgbClr val="000054"/>
              </a:solidFill>
              <a:latin typeface="Aptos"/>
              <a:ea typeface="Aptos"/>
              <a:cs typeface="Aptos"/>
              <a:sym typeface="Aptos"/>
            </a:endParaRPr>
          </a:p>
        </p:txBody>
      </p:sp>
      <p:sp>
        <p:nvSpPr>
          <p:cNvPr id="3" name="AutoShape 3">
            <a:extLst>
              <a:ext uri="{FF2B5EF4-FFF2-40B4-BE49-F238E27FC236}">
                <a16:creationId xmlns:a16="http://schemas.microsoft.com/office/drawing/2014/main" id="{95D2C8EC-4506-87AB-7C94-9D8DD542C7AB}"/>
              </a:ext>
            </a:extLst>
          </p:cNvPr>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4" name="TextBox 4">
            <a:extLst>
              <a:ext uri="{FF2B5EF4-FFF2-40B4-BE49-F238E27FC236}">
                <a16:creationId xmlns:a16="http://schemas.microsoft.com/office/drawing/2014/main" id="{BE596855-A016-013A-0AC1-22BB5AB27C0E}"/>
              </a:ext>
            </a:extLst>
          </p:cNvPr>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5" name="Freeform 5">
            <a:extLst>
              <a:ext uri="{FF2B5EF4-FFF2-40B4-BE49-F238E27FC236}">
                <a16:creationId xmlns:a16="http://schemas.microsoft.com/office/drawing/2014/main" id="{426B23EF-02D4-ADE4-5376-DD5AC958F82A}"/>
              </a:ext>
            </a:extLst>
          </p:cNvPr>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6" name="TextBox 6">
            <a:extLst>
              <a:ext uri="{FF2B5EF4-FFF2-40B4-BE49-F238E27FC236}">
                <a16:creationId xmlns:a16="http://schemas.microsoft.com/office/drawing/2014/main" id="{407C9B2E-9B3E-04E2-3572-6D9917BBB248}"/>
              </a:ext>
            </a:extLst>
          </p:cNvPr>
          <p:cNvSpPr txBox="1"/>
          <p:nvPr/>
        </p:nvSpPr>
        <p:spPr>
          <a:xfrm>
            <a:off x="882811" y="1005632"/>
            <a:ext cx="16459200" cy="810962"/>
          </a:xfrm>
          <a:prstGeom prst="rect">
            <a:avLst/>
          </a:prstGeom>
        </p:spPr>
        <p:txBody>
          <a:bodyPr lIns="0" tIns="0" rIns="0" bIns="0" rtlCol="0" anchor="t">
            <a:spAutoFit/>
          </a:bodyPr>
          <a:lstStyle/>
          <a:p>
            <a:pPr marL="0" lvl="0" indent="0" algn="l">
              <a:lnSpc>
                <a:spcPts val="6862"/>
              </a:lnSpc>
              <a:spcBef>
                <a:spcPct val="0"/>
              </a:spcBef>
            </a:pPr>
            <a:r>
              <a:rPr sz="3600" b="1" i="0">
                <a:solidFill>
                  <a:srgbClr val="002060"/>
                </a:solidFill>
                <a:latin typeface="Arial"/>
              </a:rPr>
              <a:t>QUY TRÌNH THỰC HIỆN DỰ ÁN (5 BƯỚC CHUẨN HÓA)</a:t>
            </a:r>
          </a:p>
        </p:txBody>
      </p:sp>
      <p:sp>
        <p:nvSpPr>
          <p:cNvPr id="7" name="Rounded Rectangle 6"/>
          <p:cNvSpPr/>
          <p:nvPr/>
        </p:nvSpPr>
        <p:spPr>
          <a:xfrm>
            <a:off x="914400" y="1920240"/>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7280" y="2103120"/>
            <a:ext cx="1645920" cy="82296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1600" b="1" i="0">
                <a:solidFill>
                  <a:srgbClr val="FFFFFF"/>
                </a:solidFill>
                <a:latin typeface="Arial"/>
              </a:rPr>
              <a:t>BƯỚC 1</a:t>
            </a:r>
          </a:p>
        </p:txBody>
      </p:sp>
      <p:sp>
        <p:nvSpPr>
          <p:cNvPr id="9" name="TextBox 8"/>
          <p:cNvSpPr txBox="1"/>
          <p:nvPr/>
        </p:nvSpPr>
        <p:spPr>
          <a:xfrm>
            <a:off x="2926080" y="2029968"/>
            <a:ext cx="14173200" cy="1005840"/>
          </a:xfrm>
          <a:prstGeom prst="rect">
            <a:avLst/>
          </a:prstGeom>
          <a:noFill/>
        </p:spPr>
        <p:txBody>
          <a:bodyPr wrap="square">
            <a:spAutoFit/>
          </a:bodyPr>
          <a:lstStyle/>
          <a:p>
            <a:pPr>
              <a:lnSpc>
                <a:spcPct val="115000"/>
              </a:lnSpc>
            </a:pPr>
            <a:r>
              <a:rPr sz="1600" b="1" i="0">
                <a:solidFill>
                  <a:srgbClr val="002060"/>
                </a:solidFill>
                <a:latin typeface="Arial"/>
              </a:rPr>
              <a:t>Chuẩn bị ngân hàng học liệu chuẩn ma trận</a:t>
            </a:r>
          </a:p>
          <a:p>
            <a:pPr>
              <a:lnSpc>
                <a:spcPct val="120000"/>
              </a:lnSpc>
            </a:pPr>
            <a:r>
              <a:rPr sz="1400" b="0" i="0">
                <a:solidFill>
                  <a:srgbClr val="262626"/>
                </a:solidFill>
                <a:latin typeface="Arial"/>
              </a:rPr>
              <a:t>Xây dựng hệ thống câu hỏi theo đúng ma trận cấu trúc đề thi mẫu HSA của ĐHQG Hà Nội (50 câu/60 phút: Tiếng Việt, Đọc hiểu văn bản và Văn học).</a:t>
            </a:r>
          </a:p>
        </p:txBody>
      </p:sp>
      <p:sp>
        <p:nvSpPr>
          <p:cNvPr id="10" name="Rounded Rectangle 9"/>
          <p:cNvSpPr/>
          <p:nvPr/>
        </p:nvSpPr>
        <p:spPr>
          <a:xfrm>
            <a:off x="914400" y="3273552"/>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97280" y="3456432"/>
            <a:ext cx="1645920" cy="822960"/>
          </a:xfrm>
          <a:prstGeom prst="roundRect">
            <a:avLst/>
          </a:prstGeom>
          <a:solidFill>
            <a:srgbClr val="0046A0"/>
          </a:solidFill>
          <a:ln>
            <a:no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1600" b="1" i="0">
                <a:solidFill>
                  <a:srgbClr val="FFFFFF"/>
                </a:solidFill>
                <a:latin typeface="Arial"/>
              </a:rPr>
              <a:t>BƯỚC 2</a:t>
            </a:r>
          </a:p>
        </p:txBody>
      </p:sp>
      <p:sp>
        <p:nvSpPr>
          <p:cNvPr id="12" name="TextBox 11"/>
          <p:cNvSpPr txBox="1"/>
          <p:nvPr/>
        </p:nvSpPr>
        <p:spPr>
          <a:xfrm>
            <a:off x="2926080" y="3383280"/>
            <a:ext cx="14173200" cy="1005840"/>
          </a:xfrm>
          <a:prstGeom prst="rect">
            <a:avLst/>
          </a:prstGeom>
          <a:noFill/>
        </p:spPr>
        <p:txBody>
          <a:bodyPr wrap="square">
            <a:spAutoFit/>
          </a:bodyPr>
          <a:lstStyle/>
          <a:p>
            <a:pPr>
              <a:lnSpc>
                <a:spcPct val="115000"/>
              </a:lnSpc>
            </a:pPr>
            <a:r>
              <a:rPr sz="1600" b="1" i="0">
                <a:solidFill>
                  <a:srgbClr val="002060"/>
                </a:solidFill>
                <a:latin typeface="Arial"/>
              </a:rPr>
              <a:t>Số hóa &amp; Phân tách câu hỏi với Antigravity + MCP</a:t>
            </a:r>
          </a:p>
          <a:p>
            <a:pPr>
              <a:lnSpc>
                <a:spcPct val="120000"/>
              </a:lnSpc>
            </a:pPr>
            <a:r>
              <a:rPr sz="1400" b="0" i="0">
                <a:solidFill>
                  <a:srgbClr val="262626"/>
                </a:solidFill>
                <a:latin typeface="Arial"/>
              </a:rPr>
              <a:t>Sử dụng Antigravity IDE đọc dữ liệu thô, tách câu đơn và nhóm câu chùm; kết hợp MCP Tavily tra cứu tài liệu và giải bổ sung các câu khuyết đáp án (có giáo viên thẩm định).</a:t>
            </a:r>
          </a:p>
        </p:txBody>
      </p:sp>
      <p:sp>
        <p:nvSpPr>
          <p:cNvPr id="13" name="Rounded Rectangle 12"/>
          <p:cNvSpPr/>
          <p:nvPr/>
        </p:nvSpPr>
        <p:spPr>
          <a:xfrm>
            <a:off x="914400" y="4626864"/>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97280" y="4809744"/>
            <a:ext cx="1645920" cy="82296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1600" b="1" i="0">
                <a:solidFill>
                  <a:srgbClr val="FFFFFF"/>
                </a:solidFill>
                <a:latin typeface="Arial"/>
              </a:rPr>
              <a:t>BƯỚC 3</a:t>
            </a:r>
          </a:p>
        </p:txBody>
      </p:sp>
      <p:sp>
        <p:nvSpPr>
          <p:cNvPr id="15" name="TextBox 14"/>
          <p:cNvSpPr txBox="1"/>
          <p:nvPr/>
        </p:nvSpPr>
        <p:spPr>
          <a:xfrm>
            <a:off x="2926080" y="4736592"/>
            <a:ext cx="14173200" cy="1005840"/>
          </a:xfrm>
          <a:prstGeom prst="rect">
            <a:avLst/>
          </a:prstGeom>
          <a:noFill/>
        </p:spPr>
        <p:txBody>
          <a:bodyPr wrap="square">
            <a:spAutoFit/>
          </a:bodyPr>
          <a:lstStyle/>
          <a:p>
            <a:pPr>
              <a:lnSpc>
                <a:spcPct val="115000"/>
              </a:lnSpc>
            </a:pPr>
            <a:r>
              <a:rPr sz="1600" b="1" i="0">
                <a:solidFill>
                  <a:srgbClr val="002060"/>
                </a:solidFill>
                <a:latin typeface="Arial"/>
              </a:rPr>
              <a:t>Lập trình &amp; Phát triển Web App tương tác cao</a:t>
            </a:r>
          </a:p>
          <a:p>
            <a:pPr>
              <a:lnSpc>
                <a:spcPct val="120000"/>
              </a:lnSpc>
            </a:pPr>
            <a:r>
              <a:rPr sz="1400" b="0" i="0">
                <a:solidFill>
                  <a:srgbClr val="262626"/>
                </a:solidFill>
                <a:latin typeface="Arial"/>
              </a:rPr>
              <a:t>Lập trình thuật toán trộn đề ngẫu nhiên 50 câu/60p, thiết kế giao diện Split-Screen tối ưu bài đọc dài, tích hợp Bảng vinh danh Top 100 và Gia sư ảo AI.</a:t>
            </a:r>
          </a:p>
        </p:txBody>
      </p:sp>
      <p:sp>
        <p:nvSpPr>
          <p:cNvPr id="16" name="Rounded Rectangle 15"/>
          <p:cNvSpPr/>
          <p:nvPr/>
        </p:nvSpPr>
        <p:spPr>
          <a:xfrm>
            <a:off x="914400" y="5980176"/>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97280" y="6163056"/>
            <a:ext cx="1645920" cy="822960"/>
          </a:xfrm>
          <a:prstGeom prst="roundRect">
            <a:avLst/>
          </a:prstGeom>
          <a:solidFill>
            <a:srgbClr val="B42814"/>
          </a:solidFill>
          <a:ln>
            <a:no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1600" b="1" i="0">
                <a:solidFill>
                  <a:srgbClr val="FFFFFF"/>
                </a:solidFill>
                <a:latin typeface="Arial"/>
              </a:rPr>
              <a:t>BƯỚC 4</a:t>
            </a:r>
          </a:p>
        </p:txBody>
      </p:sp>
      <p:sp>
        <p:nvSpPr>
          <p:cNvPr id="18" name="TextBox 17"/>
          <p:cNvSpPr txBox="1"/>
          <p:nvPr/>
        </p:nvSpPr>
        <p:spPr>
          <a:xfrm>
            <a:off x="2926080" y="6089904"/>
            <a:ext cx="14173200" cy="1005840"/>
          </a:xfrm>
          <a:prstGeom prst="rect">
            <a:avLst/>
          </a:prstGeom>
          <a:noFill/>
        </p:spPr>
        <p:txBody>
          <a:bodyPr wrap="square">
            <a:spAutoFit/>
          </a:bodyPr>
          <a:lstStyle/>
          <a:p>
            <a:pPr>
              <a:lnSpc>
                <a:spcPct val="115000"/>
              </a:lnSpc>
            </a:pPr>
            <a:r>
              <a:rPr sz="1600" b="1" i="0">
                <a:solidFill>
                  <a:srgbClr val="002060"/>
                </a:solidFill>
                <a:latin typeface="Arial"/>
              </a:rPr>
              <a:t>Đóng gói &amp; Xuất bản đám mây miễn phí 24/7</a:t>
            </a:r>
          </a:p>
          <a:p>
            <a:pPr>
              <a:lnSpc>
                <a:spcPct val="120000"/>
              </a:lnSpc>
            </a:pPr>
            <a:r>
              <a:rPr sz="1400" b="0" i="0">
                <a:solidFill>
                  <a:srgbClr val="262626"/>
                </a:solidFill>
                <a:latin typeface="Arial"/>
              </a:rPr>
              <a:t>Đóng gói toàn bộ mã nguồn tĩnh và phát hành đồng thời lên GitHub Pages và Netlify, đảm bảo hệ thống vận hành liên tục 24/7 với chi phí máy chủ 0 đồng.</a:t>
            </a:r>
          </a:p>
        </p:txBody>
      </p:sp>
      <p:sp>
        <p:nvSpPr>
          <p:cNvPr id="19" name="Rounded Rectangle 18"/>
          <p:cNvSpPr/>
          <p:nvPr/>
        </p:nvSpPr>
        <p:spPr>
          <a:xfrm>
            <a:off x="914400" y="7333488"/>
            <a:ext cx="16459200" cy="11887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7280" y="7516368"/>
            <a:ext cx="1645920" cy="82296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r>
              <a:rPr sz="1600" b="1" i="0">
                <a:solidFill>
                  <a:srgbClr val="FFFFFF"/>
                </a:solidFill>
                <a:latin typeface="Arial"/>
              </a:rPr>
              <a:t>BƯỚC 5</a:t>
            </a:r>
          </a:p>
        </p:txBody>
      </p:sp>
      <p:sp>
        <p:nvSpPr>
          <p:cNvPr id="21" name="TextBox 20"/>
          <p:cNvSpPr txBox="1"/>
          <p:nvPr/>
        </p:nvSpPr>
        <p:spPr>
          <a:xfrm>
            <a:off x="2926080" y="7443216"/>
            <a:ext cx="14173200" cy="1005840"/>
          </a:xfrm>
          <a:prstGeom prst="rect">
            <a:avLst/>
          </a:prstGeom>
          <a:noFill/>
        </p:spPr>
        <p:txBody>
          <a:bodyPr wrap="square">
            <a:spAutoFit/>
          </a:bodyPr>
          <a:lstStyle/>
          <a:p>
            <a:pPr>
              <a:lnSpc>
                <a:spcPct val="115000"/>
              </a:lnSpc>
            </a:pPr>
            <a:r>
              <a:rPr sz="1600" b="1" i="0">
                <a:solidFill>
                  <a:srgbClr val="002060"/>
                </a:solidFill>
                <a:latin typeface="Arial"/>
              </a:rPr>
              <a:t>Tích hợp PWA, Mã QR &amp; Hệ thống thống kê kết quả</a:t>
            </a:r>
          </a:p>
          <a:p>
            <a:pPr>
              <a:lnSpc>
                <a:spcPct val="120000"/>
              </a:lnSpc>
            </a:pPr>
            <a:r>
              <a:rPr sz="1400" b="0" i="0">
                <a:solidFill>
                  <a:srgbClr val="262626"/>
                </a:solidFill>
                <a:latin typeface="Arial"/>
              </a:rPr>
              <a:t>Tạo mã QR truy cập nhanh cho điện thoại, hỗ trợ cài đặt ứng dụng Web (PWA) và tích hợp trang Dashboard phân tích điểm mạnh/yếu của học sinh.</a:t>
            </a:r>
          </a:p>
        </p:txBody>
      </p:sp>
    </p:spTree>
    <p:extLst>
      <p:ext uri="{BB962C8B-B14F-4D97-AF65-F5344CB8AC3E}">
        <p14:creationId xmlns:p14="http://schemas.microsoft.com/office/powerpoint/2010/main" val="4292965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6459200" cy="810962"/>
          </a:xfrm>
          <a:prstGeom prst="rect">
            <a:avLst/>
          </a:prstGeom>
        </p:spPr>
        <p:txBody>
          <a:bodyPr lIns="0" tIns="0" rIns="0" bIns="0" rtlCol="0" anchor="t">
            <a:spAutoFit/>
          </a:bodyPr>
          <a:lstStyle/>
          <a:p>
            <a:pPr marL="0" lvl="0" indent="0" algn="l">
              <a:lnSpc>
                <a:spcPts val="6862"/>
              </a:lnSpc>
              <a:spcBef>
                <a:spcPct val="0"/>
              </a:spcBef>
            </a:pPr>
            <a:r>
              <a:rPr sz="3600" b="1" i="0">
                <a:solidFill>
                  <a:srgbClr val="002060"/>
                </a:solidFill>
                <a:latin typeface="Arial"/>
              </a:rPr>
              <a:t>TRIỂN KHAI THỰC TẾ TẠI TRƯỜNG THPT CHƯƠNG MỸ A</a:t>
            </a:r>
          </a:p>
        </p:txBody>
      </p:sp>
      <p:sp>
        <p:nvSpPr>
          <p:cNvPr id="3" name="TextBox 3"/>
          <p:cNvSpPr txBox="1"/>
          <p:nvPr/>
        </p:nvSpPr>
        <p:spPr>
          <a:xfrm>
            <a:off x="714375" y="2027149"/>
            <a:ext cx="16868775" cy="2547236"/>
          </a:xfrm>
          <a:prstGeom prst="rect">
            <a:avLst/>
          </a:prstGeom>
        </p:spPr>
        <p:txBody>
          <a:bodyPr lIns="0" tIns="0" rIns="0" bIns="0" rtlCol="0" anchor="t">
            <a:spAutoFit/>
          </a:bodyPr>
          <a:lstStyle/>
          <a:p>
            <a:pPr lvl="0"/>
          </a:p>
          <a:p>
            <a:pPr lvl="0"/>
            <a:endParaRPr lang="en-US" dirty="0"/>
          </a:p>
          <a:p>
            <a:pPr lvl="1"/>
          </a:p>
          <a:p>
            <a:pPr lvl="1"/>
          </a:p>
          <a:p>
            <a:pPr lvl="1"/>
          </a:p>
          <a:p>
            <a:pPr marL="1306919" lvl="2" indent="-435640" algn="l">
              <a:lnSpc>
                <a:spcPts val="4661"/>
              </a:lnSpc>
              <a:buFont typeface="Arial"/>
              <a:buChar char="⚬"/>
            </a:pPr>
          </a:p>
          <a:p>
            <a:pPr marL="1306919" lvl="2" indent="-435640" algn="l">
              <a:lnSpc>
                <a:spcPts val="4661"/>
              </a:lnSpc>
              <a:buFont typeface="Arial"/>
              <a:buChar char="⚬"/>
            </a:pPr>
            <a:endParaRPr lang="en-US" sz="3026" dirty="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7" name="Rounded Rectangle 6"/>
          <p:cNvSpPr/>
          <p:nvPr/>
        </p:nvSpPr>
        <p:spPr>
          <a:xfrm>
            <a:off x="914400" y="1920240"/>
            <a:ext cx="16459200" cy="1371600"/>
          </a:xfrm>
          <a:prstGeom prst="roundRect">
            <a:avLst/>
          </a:prstGeom>
          <a:solidFill>
            <a:srgbClr val="F0F6FF"/>
          </a:solidFill>
          <a:ln w="19050">
            <a:solidFill>
              <a:srgbClr val="004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11680"/>
            <a:ext cx="16093440" cy="1188720"/>
          </a:xfrm>
          <a:prstGeom prst="rect">
            <a:avLst/>
          </a:prstGeom>
          <a:noFill/>
        </p:spPr>
        <p:txBody>
          <a:bodyPr wrap="square">
            <a:spAutoFit/>
          </a:bodyPr>
          <a:lstStyle/>
          <a:p>
            <a:pPr>
              <a:lnSpc>
                <a:spcPct val="120000"/>
              </a:lnSpc>
            </a:pPr>
            <a:r>
              <a:rPr sz="1550" b="1" i="0">
                <a:solidFill>
                  <a:srgbClr val="002060"/>
                </a:solidFill>
                <a:latin typeface="Arial"/>
              </a:rPr>
              <a:t>• Phạm vi thử nghiệm: </a:t>
            </a:r>
            <a:r>
              <a:rPr sz="1550" b="0" i="0">
                <a:solidFill>
                  <a:srgbClr val="262626"/>
                </a:solidFill>
                <a:latin typeface="Arial"/>
              </a:rPr>
              <a:t>Trực tiếp tại 2 lớp 12A2 và 12A7 - Trường THPT Chương Mỹ A (Hà Nội).</a:t>
            </a:r>
          </a:p>
          <a:p>
            <a:pPr>
              <a:lnSpc>
                <a:spcPct val="120000"/>
              </a:lnSpc>
            </a:pPr>
            <a:r>
              <a:rPr sz="1550" b="1" i="0">
                <a:solidFill>
                  <a:srgbClr val="C00000"/>
                </a:solidFill>
                <a:latin typeface="Arial"/>
              </a:rPr>
              <a:t>• Thời gian &amp; Quy mô: </a:t>
            </a:r>
            <a:r>
              <a:rPr sz="1550" b="0" i="0">
                <a:solidFill>
                  <a:srgbClr val="262626"/>
                </a:solidFill>
                <a:latin typeface="Arial"/>
              </a:rPr>
              <a:t>Tháng 10/2026 (Giai đoạn cao điểm ôn thi ĐGNL) | Khảo nghiệm bước đầu với N = 32 học sinh tích cực.</a:t>
            </a:r>
          </a:p>
        </p:txBody>
      </p:sp>
      <p:sp>
        <p:nvSpPr>
          <p:cNvPr id="9" name="Rounded Rectangle 8"/>
          <p:cNvSpPr/>
          <p:nvPr/>
        </p:nvSpPr>
        <p:spPr>
          <a:xfrm>
            <a:off x="914400" y="3566160"/>
            <a:ext cx="5212080" cy="48463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3566160"/>
            <a:ext cx="5212080" cy="59436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BƯỚC 1: TRUY CẬP TỰ DO (0Đ CHI PHÍ)</a:t>
            </a:r>
          </a:p>
        </p:txBody>
      </p:sp>
      <p:sp>
        <p:nvSpPr>
          <p:cNvPr id="11" name="TextBox 10"/>
          <p:cNvSpPr txBox="1"/>
          <p:nvPr/>
        </p:nvSpPr>
        <p:spPr>
          <a:xfrm>
            <a:off x="1097280" y="4297680"/>
            <a:ext cx="4846320" cy="3931920"/>
          </a:xfrm>
          <a:prstGeom prst="rect">
            <a:avLst/>
          </a:prstGeom>
          <a:noFill/>
        </p:spPr>
        <p:txBody>
          <a:bodyPr wrap="square">
            <a:spAutoFit/>
          </a:bodyPr>
          <a:lstStyle/>
          <a:p>
            <a:pPr>
              <a:lnSpc>
                <a:spcPct val="130000"/>
              </a:lnSpc>
            </a:pPr>
            <a:r>
              <a:rPr sz="1500" b="0" i="0">
                <a:solidFill>
                  <a:srgbClr val="262626"/>
                </a:solidFill>
                <a:latin typeface="Arial"/>
              </a:rPr>
              <a:t>Quét mã QR trên điện thoại hoặc máy tính cá nhân để vào Web App ngay ngoài giờ học.</a:t>
            </a:r>
            <a:br/>
            <a:br/>
            <a:r>
              <a:t>Không cần tài khoản phức tạp, không mất bất kỳ chi phí nào, học sinh có thể ôn luyện mọi lúc mọi nơi.</a:t>
            </a:r>
          </a:p>
        </p:txBody>
      </p:sp>
      <p:sp>
        <p:nvSpPr>
          <p:cNvPr id="12" name="Rounded Rectangle 11"/>
          <p:cNvSpPr/>
          <p:nvPr/>
        </p:nvSpPr>
        <p:spPr>
          <a:xfrm>
            <a:off x="6537960" y="3566160"/>
            <a:ext cx="5212080" cy="48463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37960" y="3566160"/>
            <a:ext cx="5212080" cy="594360"/>
          </a:xfrm>
          <a:prstGeom prst="roundRect">
            <a:avLst/>
          </a:prstGeom>
          <a:solidFill>
            <a:srgbClr val="0046A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BƯỚC 2: TỰ CHỌN CHẾ ĐỘ ÔN LUYỆN</a:t>
            </a:r>
          </a:p>
        </p:txBody>
      </p:sp>
      <p:sp>
        <p:nvSpPr>
          <p:cNvPr id="14" name="TextBox 13"/>
          <p:cNvSpPr txBox="1"/>
          <p:nvPr/>
        </p:nvSpPr>
        <p:spPr>
          <a:xfrm>
            <a:off x="6720840" y="4297680"/>
            <a:ext cx="4846320" cy="3931920"/>
          </a:xfrm>
          <a:prstGeom prst="rect">
            <a:avLst/>
          </a:prstGeom>
          <a:noFill/>
        </p:spPr>
        <p:txBody>
          <a:bodyPr wrap="square">
            <a:spAutoFit/>
          </a:bodyPr>
          <a:lstStyle/>
          <a:p>
            <a:pPr>
              <a:lnSpc>
                <a:spcPct val="130000"/>
              </a:lnSpc>
            </a:pPr>
            <a:r>
              <a:rPr sz="1500" b="0" i="0">
                <a:solidFill>
                  <a:srgbClr val="262626"/>
                </a:solidFill>
                <a:latin typeface="Arial"/>
              </a:rPr>
              <a:t>Thi thử tổng hợp: 50 câu/60 phút bấm giờ tự động chuẩn format đề thi thật ĐHQGHN.</a:t>
            </a:r>
            <a:br/>
            <a:br/>
            <a:r>
              <a:t>Luyện chuyên sâu từng dạng: Tiếng Việt, Quy tắc ngữ pháp, Từ vựng, Đọc hiểu văn bản nghệ thuật và thông tin.</a:t>
            </a:r>
          </a:p>
        </p:txBody>
      </p:sp>
      <p:sp>
        <p:nvSpPr>
          <p:cNvPr id="15" name="Rounded Rectangle 14"/>
          <p:cNvSpPr/>
          <p:nvPr/>
        </p:nvSpPr>
        <p:spPr>
          <a:xfrm>
            <a:off x="12161520" y="3566160"/>
            <a:ext cx="5212080" cy="484632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2161520" y="3566160"/>
            <a:ext cx="5212080" cy="59436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BƯỚC 3: TỰ ĐÁNH GIÁ &amp; SỬA LỖI VỚI AI</a:t>
            </a:r>
          </a:p>
        </p:txBody>
      </p:sp>
      <p:sp>
        <p:nvSpPr>
          <p:cNvPr id="17" name="TextBox 16"/>
          <p:cNvSpPr txBox="1"/>
          <p:nvPr/>
        </p:nvSpPr>
        <p:spPr>
          <a:xfrm>
            <a:off x="12344400" y="4297680"/>
            <a:ext cx="4846320" cy="3931920"/>
          </a:xfrm>
          <a:prstGeom prst="rect">
            <a:avLst/>
          </a:prstGeom>
          <a:noFill/>
        </p:spPr>
        <p:txBody>
          <a:bodyPr wrap="square">
            <a:spAutoFit/>
          </a:bodyPr>
          <a:lstStyle/>
          <a:p>
            <a:pPr>
              <a:lnSpc>
                <a:spcPct val="130000"/>
              </a:lnSpc>
            </a:pPr>
            <a:r>
              <a:rPr sz="1500" b="0" i="0">
                <a:solidFill>
                  <a:srgbClr val="262626"/>
                </a:solidFill>
                <a:latin typeface="Arial"/>
              </a:rPr>
              <a:t>Hệ thống tự động chấm điểm tức thì ngay sau khi nộp bài và lưu vào lịch sử cá nhân.</a:t>
            </a:r>
            <a:br/>
            <a:br/>
            <a:r>
              <a:t>Đọc đáp án chi tiết và tương tác 1-1 với Gia sư AI ở từng câu sai để hiểu bản chất vì sao câu đó sai.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6459200" cy="810962"/>
          </a:xfrm>
          <a:prstGeom prst="rect">
            <a:avLst/>
          </a:prstGeom>
        </p:spPr>
        <p:txBody>
          <a:bodyPr lIns="0" tIns="0" rIns="0" bIns="0" rtlCol="0" anchor="t">
            <a:spAutoFit/>
          </a:bodyPr>
          <a:lstStyle/>
          <a:p>
            <a:pPr marL="0" lvl="0" indent="0" algn="l">
              <a:lnSpc>
                <a:spcPts val="6862"/>
              </a:lnSpc>
              <a:spcBef>
                <a:spcPct val="0"/>
              </a:spcBef>
            </a:pPr>
            <a:r>
              <a:rPr sz="3800" b="1" i="0">
                <a:solidFill>
                  <a:srgbClr val="002060"/>
                </a:solidFill>
                <a:latin typeface="Arial"/>
              </a:rPr>
              <a:t>KẾT QUẢ VÀ TÁC ĐỘNG THỰC TIỄN</a:t>
            </a:r>
          </a:p>
        </p:txBody>
      </p:sp>
      <p:sp>
        <p:nvSpPr>
          <p:cNvPr id="3" name="TextBox 3"/>
          <p:cNvSpPr txBox="1"/>
          <p:nvPr/>
        </p:nvSpPr>
        <p:spPr>
          <a:xfrm>
            <a:off x="714375" y="2027149"/>
            <a:ext cx="16868775" cy="4029693"/>
          </a:xfrm>
          <a:prstGeom prst="rect">
            <a:avLst/>
          </a:prstGeom>
        </p:spPr>
        <p:txBody>
          <a:bodyPr lIns="0" tIns="0" rIns="0" bIns="0" rtlCol="0" anchor="t">
            <a:spAutoFit/>
          </a:bodyPr>
          <a:lstStyle/>
          <a:p>
            <a:endParaRPr lang="en-US" dirty="0"/>
          </a:p>
          <a:p>
            <a:pPr lvl="0"/>
          </a:p>
          <a:p>
            <a:pPr lvl="0"/>
          </a:p>
          <a:p>
            <a:pPr lvl="0"/>
          </a:p>
          <a:p>
            <a:pPr marL="653460" lvl="1" indent="-326730" algn="l">
              <a:lnSpc>
                <a:spcPts val="4661"/>
              </a:lnSpc>
              <a:buFont typeface="Arial"/>
              <a:buChar char="•"/>
            </a:pPr>
          </a:p>
          <a:p>
            <a:pPr marL="653460" lvl="1" indent="-326730" algn="l">
              <a:lnSpc>
                <a:spcPts val="4661"/>
              </a:lnSpc>
              <a:buFont typeface="Arial"/>
              <a:buChar char="•"/>
            </a:pPr>
          </a:p>
          <a:p>
            <a:pPr algn="l">
              <a:lnSpc>
                <a:spcPts val="4661"/>
              </a:lnSpc>
            </a:pPr>
            <a:endParaRPr lang="en-US" sz="3026" dirty="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
        <p:nvSpPr>
          <p:cNvPr id="7" name="Rounded Rectangle 6"/>
          <p:cNvSpPr/>
          <p:nvPr/>
        </p:nvSpPr>
        <p:spPr>
          <a:xfrm>
            <a:off x="914400" y="1920240"/>
            <a:ext cx="8412480" cy="64922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920240"/>
            <a:ext cx="8412480" cy="5029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1. TÁC ĐỘNG THỰC TẾ &amp; CHỈ SỐ TIÊU BIỂU</a:t>
            </a:r>
          </a:p>
        </p:txBody>
      </p:sp>
      <p:sp>
        <p:nvSpPr>
          <p:cNvPr id="9" name="TextBox 8"/>
          <p:cNvSpPr txBox="1"/>
          <p:nvPr/>
        </p:nvSpPr>
        <p:spPr>
          <a:xfrm>
            <a:off x="1097280" y="2560320"/>
            <a:ext cx="8046720" cy="5669280"/>
          </a:xfrm>
          <a:prstGeom prst="rect">
            <a:avLst/>
          </a:prstGeom>
          <a:noFill/>
        </p:spPr>
        <p:txBody>
          <a:bodyPr wrap="square">
            <a:spAutoFit/>
          </a:bodyPr>
          <a:lstStyle/>
          <a:p>
            <a:pPr>
              <a:lnSpc>
                <a:spcPct val="125000"/>
              </a:lnSpc>
              <a:spcAft>
                <a:spcPts val="1200"/>
              </a:spcAft>
            </a:pPr>
            <a:r>
              <a:rPr sz="1550" b="1" i="0">
                <a:solidFill>
                  <a:srgbClr val="0046A0"/>
                </a:solidFill>
                <a:latin typeface="Arial"/>
              </a:rPr>
              <a:t>• </a:t>
            </a:r>
            <a:r>
              <a:rPr sz="1550" b="1" i="0">
                <a:solidFill>
                  <a:srgbClr val="002060"/>
                </a:solidFill>
                <a:latin typeface="Arial"/>
              </a:rPr>
              <a:t>Đối với Học sinh | Cải thiện +24,7% điểm số: </a:t>
            </a:r>
            <a:r>
              <a:rPr sz="1450" b="0" i="0">
                <a:solidFill>
                  <a:srgbClr val="262626"/>
                </a:solidFill>
                <a:latin typeface="Arial"/>
              </a:rPr>
              <a:t>Có "Gia sư 24/7" đồng hành ngoài giờ học; điểm trung bình tăng rõ rệt từ 29,5/50 (Lần 1) lên 36,8/50 (Lần 3+). Ghi nhận 78 lượt làm đề hoàn chỉnh và 145 lượt hỏi Gia sư AI để phân tích câu sai.</a:t>
            </a:r>
          </a:p>
          <a:p>
            <a:pPr>
              <a:lnSpc>
                <a:spcPct val="125000"/>
              </a:lnSpc>
              <a:spcAft>
                <a:spcPts val="1200"/>
              </a:spcAft>
            </a:pPr>
            <a:r>
              <a:rPr sz="1550" b="1" i="0">
                <a:solidFill>
                  <a:srgbClr val="0046A0"/>
                </a:solidFill>
                <a:latin typeface="Arial"/>
              </a:rPr>
              <a:t>• </a:t>
            </a:r>
            <a:r>
              <a:rPr sz="1550" b="1" i="0">
                <a:solidFill>
                  <a:srgbClr val="002060"/>
                </a:solidFill>
                <a:latin typeface="Arial"/>
              </a:rPr>
              <a:t>Đối với Giáo viên | Tiết kiệm 98% thời gian: </a:t>
            </a:r>
            <a:r>
              <a:rPr sz="1450" b="0" i="0">
                <a:solidFill>
                  <a:srgbClr val="262626"/>
                </a:solidFill>
                <a:latin typeface="Arial"/>
              </a:rPr>
              <a:t>Giải phóng giáo viên khỏi khâu trộn đề thủ công và chấm thi; phát hiện ngay điểm nghẽn kiến thức ở phần Tiếng Việt &amp; Ngữ pháp (tỷ lệ đúng ban đầu chỉ 58%) để kịp thời củng cố trên lớp.</a:t>
            </a:r>
          </a:p>
          <a:p>
            <a:pPr>
              <a:lnSpc>
                <a:spcPct val="125000"/>
              </a:lnSpc>
              <a:spcAft>
                <a:spcPts val="1200"/>
              </a:spcAft>
            </a:pPr>
            <a:r>
              <a:rPr sz="1550" b="1" i="0">
                <a:solidFill>
                  <a:srgbClr val="0046A0"/>
                </a:solidFill>
                <a:latin typeface="Arial"/>
              </a:rPr>
              <a:t>• </a:t>
            </a:r>
            <a:r>
              <a:rPr sz="1550" b="1" i="0">
                <a:solidFill>
                  <a:srgbClr val="002060"/>
                </a:solidFill>
                <a:latin typeface="Arial"/>
              </a:rPr>
              <a:t>Bình đẳng cơ hội giáo dục: </a:t>
            </a:r>
            <a:r>
              <a:rPr sz="1450" b="0" i="0">
                <a:solidFill>
                  <a:srgbClr val="262626"/>
                </a:solidFill>
                <a:latin typeface="Arial"/>
              </a:rPr>
              <a:t>100% học sinh 12A2 &amp; 12A7 được tiếp cận kho đề chất lượng cao hoàn toàn miễn phí, xóa bỏ hoàn toàn rào cản chi phí luyện thi trung tâm.</a:t>
            </a:r>
          </a:p>
        </p:txBody>
      </p:sp>
      <p:sp>
        <p:nvSpPr>
          <p:cNvPr id="10" name="Rounded Rectangle 9"/>
          <p:cNvSpPr/>
          <p:nvPr/>
        </p:nvSpPr>
        <p:spPr>
          <a:xfrm>
            <a:off x="9692640" y="1920240"/>
            <a:ext cx="7680960" cy="649224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92640" y="1920240"/>
            <a:ext cx="7680960" cy="50292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2. PHẢN HỒI THỰC TẾ &amp; MỨC ĐỘ HÀI LÒNG</a:t>
            </a:r>
          </a:p>
        </p:txBody>
      </p:sp>
      <p:sp>
        <p:nvSpPr>
          <p:cNvPr id="12" name="TextBox 11"/>
          <p:cNvSpPr txBox="1"/>
          <p:nvPr/>
        </p:nvSpPr>
        <p:spPr>
          <a:xfrm>
            <a:off x="9875520" y="2560320"/>
            <a:ext cx="7315200" cy="5669280"/>
          </a:xfrm>
          <a:prstGeom prst="rect">
            <a:avLst/>
          </a:prstGeom>
          <a:noFill/>
        </p:spPr>
        <p:txBody>
          <a:bodyPr wrap="square">
            <a:spAutoFit/>
          </a:bodyPr>
          <a:lstStyle/>
          <a:p>
            <a:pPr>
              <a:lnSpc>
                <a:spcPct val="120000"/>
              </a:lnSpc>
              <a:spcAft>
                <a:spcPts val="1400"/>
              </a:spcAft>
            </a:pPr>
            <a:r>
              <a:rPr sz="1700" b="1" i="0">
                <a:solidFill>
                  <a:srgbClr val="C00000"/>
                </a:solidFill>
                <a:latin typeface="Arial"/>
              </a:rPr>
              <a:t>Độ hài lòng chung: 4.9 / 5.0 (Rất hài lòng)
</a:t>
            </a:r>
            <a:r>
              <a:rPr sz="1350" b="0" i="1">
                <a:solidFill>
                  <a:srgbClr val="5A5A5A"/>
                </a:solidFill>
                <a:latin typeface="Arial"/>
              </a:rPr>
              <a:t>(Dựa trên kết quả khảo sát ẩn danh 32 học sinh thử nghiệm)</a:t>
            </a:r>
          </a:p>
          <a:p>
            <a:pPr>
              <a:lnSpc>
                <a:spcPct val="125000"/>
              </a:lnSpc>
              <a:spcAft>
                <a:spcPts val="1200"/>
              </a:spcAft>
            </a:pPr>
            <a:r>
              <a:rPr sz="1550" b="1" i="0">
                <a:solidFill>
                  <a:srgbClr val="002060"/>
                </a:solidFill>
                <a:latin typeface="Arial"/>
              </a:rPr>
              <a:t>• Học sinh Lớp 12A2:
</a:t>
            </a:r>
            <a:r>
              <a:rPr sz="1450" b="0" i="1">
                <a:solidFill>
                  <a:srgbClr val="262626"/>
                </a:solidFill>
                <a:latin typeface="Arial"/>
              </a:rPr>
              <a:t>"Giao diện chia đôi màn hình rất dễ đọc văn bản dài, không bị mỏi mắt như Google Form. Khi làm sai bấm hỏi Gia sư AI được giải thích cặn kẽ từng câu chữ như có cô giáo kèm 1-1 bên cạnh."</a:t>
            </a:r>
          </a:p>
          <a:p>
            <a:pPr>
              <a:lnSpc>
                <a:spcPct val="125000"/>
              </a:lnSpc>
              <a:spcAft>
                <a:spcPts val="1200"/>
              </a:spcAft>
            </a:pPr>
            <a:r>
              <a:rPr sz="1550" b="1" i="0">
                <a:solidFill>
                  <a:srgbClr val="002060"/>
                </a:solidFill>
                <a:latin typeface="Arial"/>
              </a:rPr>
              <a:t>• Giáo viên Tổ Ngữ văn:
</a:t>
            </a:r>
            <a:r>
              <a:rPr sz="1450" b="0" i="1">
                <a:solidFill>
                  <a:srgbClr val="262626"/>
                </a:solidFill>
                <a:latin typeface="Arial"/>
              </a:rPr>
              <a:t>"Tận dụng rất tốt kho đề chuẩn của tổ, trộn đề tự động không lo AI bịa kiến thức. Báo cáo thống kê chỉ rõ phần Tiếng Việt học sinh hay sai giúp giáo viên giảng bổ trợ cực kỳ sát thực tế."</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92"/>
            <a:ext cx="16459200" cy="810962"/>
          </a:xfrm>
          <a:prstGeom prst="rect">
            <a:avLst/>
          </a:prstGeom>
        </p:spPr>
        <p:txBody>
          <a:bodyPr lIns="0" tIns="0" rIns="0" bIns="0" rtlCol="0" anchor="t">
            <a:spAutoFit/>
          </a:bodyPr>
          <a:lstStyle/>
          <a:p>
            <a:pPr marL="0" lvl="0" indent="0" algn="l">
              <a:lnSpc>
                <a:spcPts val="6862"/>
              </a:lnSpc>
              <a:spcBef>
                <a:spcPct val="0"/>
              </a:spcBef>
            </a:pPr>
            <a:r>
              <a:rPr sz="3800" b="1" i="0">
                <a:solidFill>
                  <a:srgbClr val="002060"/>
                </a:solidFill>
                <a:latin typeface="Arial"/>
              </a:rPr>
              <a:t>THẢO LUẬN VÀ TỔNG KẾT</a:t>
            </a:r>
          </a:p>
        </p:txBody>
      </p:sp>
      <p:sp>
        <p:nvSpPr>
          <p:cNvPr id="3" name="TextBox 3"/>
          <p:cNvSpPr txBox="1"/>
          <p:nvPr/>
        </p:nvSpPr>
        <p:spPr>
          <a:xfrm>
            <a:off x="714375" y="1940442"/>
            <a:ext cx="16868775" cy="1107996"/>
          </a:xfrm>
          <a:prstGeom prst="rect">
            <a:avLst/>
          </a:prstGeom>
        </p:spPr>
        <p:txBody>
          <a:bodyPr lIns="0" tIns="0" rIns="0" bIns="0" rtlCol="0" anchor="t">
            <a:spAutoFit/>
          </a:bodyPr>
          <a:lstStyle/>
          <a:p>
            <a:pPr lvl="0"/>
            <a:endParaRPr lang="en-US" dirty="0"/>
          </a:p>
          <a:p>
            <a:pPr lvl="1"/>
          </a:p>
          <a:p>
            <a:pPr lvl="1"/>
          </a:p>
          <a:p>
            <a:pPr lvl="0"/>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4"/>
              </a:lnSpc>
            </a:pPr>
            <a:r>
              <a:rPr lang="en-US" sz="2600" b="1" spc="96">
                <a:solidFill>
                  <a:srgbClr val="000054"/>
                </a:solidFill>
                <a:latin typeface="Aptos Bold"/>
                <a:ea typeface="Aptos Bold"/>
                <a:cs typeface="Aptos Bold"/>
                <a:sym typeface="Aptos Bold"/>
              </a:rPr>
              <a:t>Diễn đàn Đổi mới sáng tạo Giáo dục Việt Nam với Trí tuệ nhân tạo </a:t>
            </a: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3"/>
            <a:stretch>
              <a:fillRect t="-616917"/>
            </a:stretch>
          </a:blipFill>
        </p:spPr>
        <p:txBody>
          <a:bodyPr/>
          <a:lstStyle/>
          <a:p>
            <a:endParaRPr lang="en-AU"/>
          </a:p>
        </p:txBody>
      </p:sp>
      <p:sp>
        <p:nvSpPr>
          <p:cNvPr id="7" name="Rounded Rectangle 6"/>
          <p:cNvSpPr/>
          <p:nvPr/>
        </p:nvSpPr>
        <p:spPr>
          <a:xfrm>
            <a:off x="914400" y="2011680"/>
            <a:ext cx="521208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2011680"/>
            <a:ext cx="5212080" cy="59436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ƯU THẾ VƯỢT TRỘI</a:t>
            </a:r>
          </a:p>
        </p:txBody>
      </p:sp>
      <p:sp>
        <p:nvSpPr>
          <p:cNvPr id="9" name="TextBox 8"/>
          <p:cNvSpPr txBox="1"/>
          <p:nvPr/>
        </p:nvSpPr>
        <p:spPr>
          <a:xfrm>
            <a:off x="1097280" y="2743200"/>
            <a:ext cx="4846320" cy="5486400"/>
          </a:xfrm>
          <a:prstGeom prst="rect">
            <a:avLst/>
          </a:prstGeom>
          <a:noFill/>
        </p:spPr>
        <p:txBody>
          <a:bodyPr wrap="square">
            <a:spAutoFit/>
          </a:bodyPr>
          <a:lstStyle/>
          <a:p>
            <a:pPr>
              <a:lnSpc>
                <a:spcPct val="130000"/>
              </a:lnSpc>
            </a:pPr>
            <a:r>
              <a:rPr sz="1450" b="0" i="0">
                <a:solidFill>
                  <a:srgbClr val="262626"/>
                </a:solidFill>
                <a:latin typeface="Arial"/>
              </a:rPr>
              <a:t>• Khắc phục hoàn toàn nhược điểm cuộn trang mỏi mắt của Google Forms nhờ giao diện chia đôi màn hình (Split-Screen).</a:t>
            </a:r>
            <a:br/>
            <a:br/>
            <a:r>
              <a:t>• Loại trừ 100% rủi ro bịa kiến thức và gian lận lộ đáp án sớm của ChatGPT tự do.</a:t>
            </a:r>
            <a:br/>
            <a:br/>
            <a:r>
              <a:t>• Cá nhân hóa tối đa lộ trình sửa sai cho từng học sinh với Gia sư ảo AI.</a:t>
            </a:r>
          </a:p>
        </p:txBody>
      </p:sp>
      <p:sp>
        <p:nvSpPr>
          <p:cNvPr id="10" name="Rounded Rectangle 9"/>
          <p:cNvSpPr/>
          <p:nvPr/>
        </p:nvSpPr>
        <p:spPr>
          <a:xfrm>
            <a:off x="6537960" y="2011680"/>
            <a:ext cx="521208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37960" y="2011680"/>
            <a:ext cx="5212080" cy="594360"/>
          </a:xfrm>
          <a:prstGeom prst="roundRect">
            <a:avLst/>
          </a:prstGeom>
          <a:solidFill>
            <a:srgbClr val="0046A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TÍNH BỀN VỮNG &amp; LAN TỎA</a:t>
            </a:r>
          </a:p>
        </p:txBody>
      </p:sp>
      <p:sp>
        <p:nvSpPr>
          <p:cNvPr id="12" name="TextBox 11"/>
          <p:cNvSpPr txBox="1"/>
          <p:nvPr/>
        </p:nvSpPr>
        <p:spPr>
          <a:xfrm>
            <a:off x="6720840" y="2743200"/>
            <a:ext cx="4846320" cy="5486400"/>
          </a:xfrm>
          <a:prstGeom prst="rect">
            <a:avLst/>
          </a:prstGeom>
          <a:noFill/>
        </p:spPr>
        <p:txBody>
          <a:bodyPr wrap="square">
            <a:spAutoFit/>
          </a:bodyPr>
          <a:lstStyle/>
          <a:p>
            <a:pPr>
              <a:lnSpc>
                <a:spcPct val="130000"/>
              </a:lnSpc>
            </a:pPr>
            <a:r>
              <a:rPr sz="1450" b="0" i="0">
                <a:solidFill>
                  <a:srgbClr val="262626"/>
                </a:solidFill>
                <a:latin typeface="Arial"/>
              </a:rPr>
              <a:t>• Nội bộ nhà trường: Lan tỏa từ 2 lớp điểm ra toàn bộ 600+ học sinh khối 12 THPT Chương Mỹ A.</a:t>
            </a:r>
            <a:br/>
            <a:br/>
            <a:r>
              <a:t>• Cộng đồng: Nhờ nền tảng Web App mở, học sinh lớp 12 trên toàn quốc đều có thể truy cập ôn luyện 0đ.</a:t>
            </a:r>
            <a:br/>
            <a:br/>
            <a:r>
              <a:t>• Chi phí vận hành = 0 đồng: Lưu trữ vĩnh viễn trên GitHub Pages &amp; Netlify, không phát sinh chi phí server.</a:t>
            </a:r>
          </a:p>
        </p:txBody>
      </p:sp>
      <p:sp>
        <p:nvSpPr>
          <p:cNvPr id="13" name="Rounded Rectangle 12"/>
          <p:cNvSpPr/>
          <p:nvPr/>
        </p:nvSpPr>
        <p:spPr>
          <a:xfrm>
            <a:off x="12161520" y="2011680"/>
            <a:ext cx="521208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2161520" y="2011680"/>
            <a:ext cx="5212080" cy="59436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ĐỊNH HƯỚNG TƯƠNG LAI</a:t>
            </a:r>
          </a:p>
        </p:txBody>
      </p:sp>
      <p:sp>
        <p:nvSpPr>
          <p:cNvPr id="15" name="TextBox 14"/>
          <p:cNvSpPr txBox="1"/>
          <p:nvPr/>
        </p:nvSpPr>
        <p:spPr>
          <a:xfrm>
            <a:off x="12344400" y="2743200"/>
            <a:ext cx="4846320" cy="5486400"/>
          </a:xfrm>
          <a:prstGeom prst="rect">
            <a:avLst/>
          </a:prstGeom>
          <a:noFill/>
        </p:spPr>
        <p:txBody>
          <a:bodyPr wrap="square">
            <a:spAutoFit/>
          </a:bodyPr>
          <a:lstStyle/>
          <a:p>
            <a:pPr>
              <a:lnSpc>
                <a:spcPct val="130000"/>
              </a:lnSpc>
            </a:pPr>
            <a:r>
              <a:rPr sz="1450" b="0" i="0">
                <a:solidFill>
                  <a:srgbClr val="262626"/>
                </a:solidFill>
                <a:latin typeface="Arial"/>
              </a:rPr>
              <a:t>• Mở rộng ngân hàng đề HSA hàng năm theo sát ma trận đề minh họa mới nhất của ĐHQG Hà Nội.</a:t>
            </a:r>
            <a:br/>
            <a:br/>
            <a:r>
              <a:t>• Nhân rộng kiến trúc mã nguồn mở sang các môn thi trắc nghiệm khác như Lịch sử, Địa lý, Tiếng Anh.</a:t>
            </a:r>
            <a:br/>
            <a:br/>
            <a:r>
              <a:t>• Tích hợp tính năng phân tích phổ điểm dự đoán cơ hội đỗ đại học.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6459200" cy="810962"/>
          </a:xfrm>
          <a:prstGeom prst="rect">
            <a:avLst/>
          </a:prstGeom>
        </p:spPr>
        <p:txBody>
          <a:bodyPr lIns="0" tIns="0" rIns="0" bIns="0" rtlCol="0" anchor="t">
            <a:spAutoFit/>
          </a:bodyPr>
          <a:lstStyle/>
          <a:p>
            <a:pPr marL="0" lvl="0" indent="0" algn="l">
              <a:lnSpc>
                <a:spcPts val="6862"/>
              </a:lnSpc>
              <a:spcBef>
                <a:spcPct val="0"/>
              </a:spcBef>
            </a:pPr>
            <a:r>
              <a:rPr sz="3600" b="1" i="0">
                <a:solidFill>
                  <a:srgbClr val="002060"/>
                </a:solidFill>
                <a:latin typeface="Arial"/>
              </a:rPr>
              <a:t>TÀI LIỆU VÀ ĐƯỜNG DẪN TRẢI NGHIỆM SẢN PHẨM</a:t>
            </a:r>
          </a:p>
        </p:txBody>
      </p:sp>
      <p:sp>
        <p:nvSpPr>
          <p:cNvPr id="3" name="TextBox 3"/>
          <p:cNvSpPr txBox="1"/>
          <p:nvPr/>
        </p:nvSpPr>
        <p:spPr>
          <a:xfrm>
            <a:off x="714375" y="2027149"/>
            <a:ext cx="16868775" cy="2970429"/>
          </a:xfrm>
          <a:prstGeom prst="rect">
            <a:avLst/>
          </a:prstGeom>
        </p:spPr>
        <p:txBody>
          <a:bodyPr lIns="0" tIns="0" rIns="0" bIns="0" rtlCol="0" anchor="t">
            <a:spAutoFit/>
          </a:bodyPr>
          <a:lstStyle/>
          <a:p>
            <a:pPr marL="653460" lvl="1" indent="-326730" algn="l">
              <a:lnSpc>
                <a:spcPts val="4661"/>
              </a:lnSpc>
              <a:buFont typeface="Arial"/>
              <a:buChar char="•"/>
            </a:pPr>
          </a:p>
          <a:p>
            <a:pPr marL="1306919" lvl="2" indent="-435640" algn="l">
              <a:lnSpc>
                <a:spcPts val="4661"/>
              </a:lnSpc>
              <a:buFont typeface="Arial"/>
              <a:buChar char="⚬"/>
            </a:pPr>
            <a:endParaRPr lang="en-US" sz="3026" dirty="0">
              <a:solidFill>
                <a:srgbClr val="000054"/>
              </a:solidFill>
              <a:latin typeface="Aptos"/>
              <a:ea typeface="Aptos"/>
              <a:cs typeface="Aptos"/>
              <a:sym typeface="Aptos"/>
            </a:endParaRPr>
          </a:p>
          <a:p>
            <a:pPr marL="1306919" lvl="2" indent="-435640" algn="l">
              <a:lnSpc>
                <a:spcPts val="4661"/>
              </a:lnSpc>
              <a:buFont typeface="Arial"/>
              <a:buChar char="⚬"/>
            </a:pPr>
          </a:p>
          <a:p>
            <a:pPr marL="1306919" lvl="2" indent="-435640" algn="l">
              <a:lnSpc>
                <a:spcPts val="4661"/>
              </a:lnSpc>
              <a:buFont typeface="Arial"/>
              <a:buChar char="⚬"/>
            </a:pPr>
            <a:endParaRPr lang="en-US" sz="3026" dirty="0">
              <a:solidFill>
                <a:srgbClr val="000054"/>
              </a:solidFill>
              <a:latin typeface="Aptos"/>
              <a:ea typeface="Aptos"/>
              <a:cs typeface="Aptos"/>
              <a:sym typeface="Aptos"/>
            </a:endParaRPr>
          </a:p>
          <a:p>
            <a:pPr algn="l">
              <a:lnSpc>
                <a:spcPts val="4661"/>
              </a:lnSpc>
            </a:pPr>
            <a:endParaRPr lang="en-US" sz="3026" dirty="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3"/>
            <a:stretch>
              <a:fillRect t="-652385"/>
            </a:stretch>
          </a:blipFill>
        </p:spPr>
        <p:txBody>
          <a:bodyPr/>
          <a:lstStyle/>
          <a:p>
            <a:endParaRPr lang="en-AU"/>
          </a:p>
        </p:txBody>
      </p:sp>
      <p:sp>
        <p:nvSpPr>
          <p:cNvPr id="6" name="Rounded Rectangle 5"/>
          <p:cNvSpPr/>
          <p:nvPr/>
        </p:nvSpPr>
        <p:spPr>
          <a:xfrm>
            <a:off x="914400" y="2011680"/>
            <a:ext cx="1051560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2011680"/>
            <a:ext cx="10515600" cy="502920"/>
          </a:xfrm>
          <a:prstGeom prst="round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HỆ THỐNG ĐƯỜNG DẪN &amp; NGUỒN HỌC LIỆU MỞ</a:t>
            </a:r>
          </a:p>
        </p:txBody>
      </p:sp>
      <p:sp>
        <p:nvSpPr>
          <p:cNvPr id="8" name="TextBox 7"/>
          <p:cNvSpPr txBox="1"/>
          <p:nvPr/>
        </p:nvSpPr>
        <p:spPr>
          <a:xfrm>
            <a:off x="1097280" y="2651760"/>
            <a:ext cx="10149840" cy="5577840"/>
          </a:xfrm>
          <a:prstGeom prst="rect">
            <a:avLst/>
          </a:prstGeom>
          <a:noFill/>
        </p:spPr>
        <p:txBody>
          <a:bodyPr wrap="square">
            <a:spAutoFit/>
          </a:bodyPr>
          <a:lstStyle/>
          <a:p>
            <a:pPr>
              <a:lnSpc>
                <a:spcPct val="120000"/>
              </a:lnSpc>
              <a:spcAft>
                <a:spcPts val="1400"/>
              </a:spcAft>
            </a:pPr>
            <a:r>
              <a:rPr sz="1550" b="1" i="0">
                <a:solidFill>
                  <a:srgbClr val="002060"/>
                </a:solidFill>
                <a:latin typeface="Arial"/>
              </a:rPr>
              <a:t>1. Link sản phẩm chính thức (GitHub Pages):
</a:t>
            </a:r>
            <a:r>
              <a:rPr sz="1450" b="1" i="0">
                <a:solidFill>
                  <a:srgbClr val="C00000"/>
                </a:solidFill>
                <a:latin typeface="Arial"/>
              </a:rPr>
              <a:t>• https://wti200816-bit.github.io/hsa-qualitative-exam-app/
</a:t>
            </a:r>
            <a:r>
              <a:rPr sz="1350" b="0" i="1">
                <a:solidFill>
                  <a:srgbClr val="5A5A5A"/>
                </a:solidFill>
                <a:latin typeface="Arial"/>
              </a:rPr>
              <a:t>   (Hạ tầng máy chủ GitHub bảo mật cao, hoạt động 24/7 ổn định và tốc độ tải trang cực nhanh.)
</a:t>
            </a:r>
          </a:p>
          <a:p>
            <a:pPr>
              <a:lnSpc>
                <a:spcPct val="120000"/>
              </a:lnSpc>
              <a:spcAft>
                <a:spcPts val="1400"/>
              </a:spcAft>
            </a:pPr>
            <a:r>
              <a:rPr sz="1550" b="1" i="0">
                <a:solidFill>
                  <a:srgbClr val="002060"/>
                </a:solidFill>
                <a:latin typeface="Arial"/>
              </a:rPr>
              <a:t>2. Link dự phòng (Netlify Cloud):
</a:t>
            </a:r>
            <a:r>
              <a:rPr sz="1450" b="1" i="0">
                <a:solidFill>
                  <a:srgbClr val="C00000"/>
                </a:solidFill>
                <a:latin typeface="Arial"/>
              </a:rPr>
              <a:t>• https://transcendent-cuchufli-30f705.netlify.app
</a:t>
            </a:r>
            <a:r>
              <a:rPr sz="1350" b="0" i="1">
                <a:solidFill>
                  <a:srgbClr val="5A5A5A"/>
                </a:solidFill>
                <a:latin typeface="Arial"/>
              </a:rPr>
              <a:t>   (Hệ thống sao lưu phân tán toàn cầu, tự động đồng bộ liên tục khi cập nhật kho đề mới.)
</a:t>
            </a:r>
          </a:p>
          <a:p>
            <a:pPr>
              <a:lnSpc>
                <a:spcPct val="120000"/>
              </a:lnSpc>
              <a:spcAft>
                <a:spcPts val="1400"/>
              </a:spcAft>
            </a:pPr>
            <a:r>
              <a:rPr sz="1550" b="1" i="0">
                <a:solidFill>
                  <a:srgbClr val="002060"/>
                </a:solidFill>
                <a:latin typeface="Arial"/>
              </a:rPr>
              <a:t>3. Nguồn học liệu &amp; Bản quyền đề thi:
</a:t>
            </a:r>
            <a:r>
              <a:rPr sz="1450" b="1" i="0">
                <a:solidFill>
                  <a:srgbClr val="C00000"/>
                </a:solidFill>
                <a:latin typeface="Arial"/>
              </a:rPr>
              <a:t>• Ngân hàng đề chuẩn hóa của GV Tổ Ngữ văn – Ngoại ngữ (THPT Chương Mỹ A)
</a:t>
            </a:r>
            <a:r>
              <a:rPr sz="1350" b="0" i="1">
                <a:solidFill>
                  <a:srgbClr val="5A5A5A"/>
                </a:solidFill>
                <a:latin typeface="Arial"/>
              </a:rPr>
              <a:t>   (Biên soạn chuẩn theo khung ma trận ĐGNL ĐHQGHN và tham khảo nhóm chuyên gia dự án ĐGNL.)
</a:t>
            </a:r>
          </a:p>
        </p:txBody>
      </p:sp>
      <p:sp>
        <p:nvSpPr>
          <p:cNvPr id="9" name="Rounded Rectangle 8"/>
          <p:cNvSpPr/>
          <p:nvPr/>
        </p:nvSpPr>
        <p:spPr>
          <a:xfrm>
            <a:off x="11887200" y="2011680"/>
            <a:ext cx="5486400" cy="6400800"/>
          </a:xfrm>
          <a:prstGeom prst="roundRect">
            <a:avLst/>
          </a:prstGeom>
          <a:solidFill>
            <a:srgbClr val="F8FAFD"/>
          </a:solidFill>
          <a:ln w="19050">
            <a:solidFill>
              <a:srgbClr val="C8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887200" y="2011680"/>
            <a:ext cx="5486400" cy="50292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defRPr sz="1500" b="1">
                <a:solidFill>
                  <a:srgbClr val="FFFFFF"/>
                </a:solidFill>
                <a:latin typeface="Arial"/>
              </a:defRPr>
            </a:pPr>
            <a:r>
              <a:t>QUÉT MÃ TRẢI NGHIỆM NGAY</a:t>
            </a:r>
          </a:p>
        </p:txBody>
      </p:sp>
      <p:pic>
        <p:nvPicPr>
          <p:cNvPr id="11" name="Picture 10" descr="qr_webapp.png"/>
          <p:cNvPicPr>
            <a:picLocks noChangeAspect="1"/>
          </p:cNvPicPr>
          <p:nvPr/>
        </p:nvPicPr>
        <p:blipFill>
          <a:blip r:embed="rId4"/>
          <a:stretch>
            <a:fillRect/>
          </a:stretch>
        </p:blipFill>
        <p:spPr>
          <a:xfrm>
            <a:off x="13533120" y="2651760"/>
            <a:ext cx="2194560" cy="2194560"/>
          </a:xfrm>
          <a:prstGeom prst="rect">
            <a:avLst/>
          </a:prstGeom>
        </p:spPr>
      </p:pic>
      <p:sp>
        <p:nvSpPr>
          <p:cNvPr id="12" name="TextBox 11"/>
          <p:cNvSpPr txBox="1"/>
          <p:nvPr/>
        </p:nvSpPr>
        <p:spPr>
          <a:xfrm>
            <a:off x="12070080" y="4892040"/>
            <a:ext cx="5120640" cy="457200"/>
          </a:xfrm>
          <a:prstGeom prst="rect">
            <a:avLst/>
          </a:prstGeom>
          <a:noFill/>
        </p:spPr>
        <p:txBody>
          <a:bodyPr wrap="none">
            <a:spAutoFit/>
          </a:bodyPr>
          <a:lstStyle/>
          <a:p>
            <a:pPr algn="ctr"/>
            <a:r>
              <a:rPr sz="1400" b="1" i="0">
                <a:solidFill>
                  <a:srgbClr val="002060"/>
                </a:solidFill>
                <a:latin typeface="Arial"/>
              </a:rPr>
              <a:t>Trải nghiệm trực tiếp Web App</a:t>
            </a:r>
          </a:p>
        </p:txBody>
      </p:sp>
      <p:pic>
        <p:nvPicPr>
          <p:cNvPr id="13" name="Picture 12" descr="qr_github.png"/>
          <p:cNvPicPr>
            <a:picLocks noChangeAspect="1"/>
          </p:cNvPicPr>
          <p:nvPr/>
        </p:nvPicPr>
        <p:blipFill>
          <a:blip r:embed="rId5"/>
          <a:stretch>
            <a:fillRect/>
          </a:stretch>
        </p:blipFill>
        <p:spPr>
          <a:xfrm>
            <a:off x="13533120" y="5394960"/>
            <a:ext cx="1645920" cy="1645920"/>
          </a:xfrm>
          <a:prstGeom prst="rect">
            <a:avLst/>
          </a:prstGeom>
        </p:spPr>
      </p:pic>
      <p:sp>
        <p:nvSpPr>
          <p:cNvPr id="14" name="TextBox 13"/>
          <p:cNvSpPr txBox="1"/>
          <p:nvPr/>
        </p:nvSpPr>
        <p:spPr>
          <a:xfrm>
            <a:off x="12070080" y="7086600"/>
            <a:ext cx="5120640" cy="457200"/>
          </a:xfrm>
          <a:prstGeom prst="rect">
            <a:avLst/>
          </a:prstGeom>
          <a:noFill/>
        </p:spPr>
        <p:txBody>
          <a:bodyPr wrap="none">
            <a:spAutoFit/>
          </a:bodyPr>
          <a:lstStyle/>
          <a:p>
            <a:pPr algn="ctr"/>
            <a:r>
              <a:rPr sz="1300" b="1" i="0">
                <a:solidFill>
                  <a:srgbClr val="5A5A5A"/>
                </a:solidFill>
                <a:latin typeface="Arial"/>
              </a:rPr>
              <a:t>Link GitHub Pages &amp; Mã nguồn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daa77bc-0157-46a4-82a6-8fc765694bc9}" enabled="1" method="Standard" siteId="{d1323671-cdbe-4417-b4d4-bdb24b51316b}" contentBits="0" removed="0"/>
</clbl:labelList>
</file>

<file path=docProps/app.xml><?xml version="1.0" encoding="utf-8"?>
<Properties xmlns="http://schemas.openxmlformats.org/officeDocument/2006/extended-properties" xmlns:vt="http://schemas.openxmlformats.org/officeDocument/2006/docPropsVTypes">
  <TotalTime>1494</TotalTime>
  <Words>1545</Words>
  <Application>Microsoft Office PowerPoint</Application>
  <PresentationFormat>Custom</PresentationFormat>
  <Paragraphs>108</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Aptos Bold</vt:lpstr>
      <vt:lpstr>Museo RMIT VN Light</vt:lpstr>
      <vt:lpstr>Museo RMIT VN Bold</vt:lpstr>
      <vt:lpstr>Calibri</vt:lpstr>
      <vt:lpstr>Times New Roman</vt:lpstr>
      <vt:lpstr>Aptos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Slide_2026</dc:title>
  <cp:lastModifiedBy>pt4nnnnias@gmail.com</cp:lastModifiedBy>
  <cp:revision>3</cp:revision>
  <dcterms:created xsi:type="dcterms:W3CDTF">2006-08-16T00:00:00Z</dcterms:created>
  <dcterms:modified xsi:type="dcterms:W3CDTF">2026-10-20T14:54:48Z</dcterms:modified>
  <dc:identifier>DAHWihqIcbo</dc:identifier>
</cp:coreProperties>
</file>