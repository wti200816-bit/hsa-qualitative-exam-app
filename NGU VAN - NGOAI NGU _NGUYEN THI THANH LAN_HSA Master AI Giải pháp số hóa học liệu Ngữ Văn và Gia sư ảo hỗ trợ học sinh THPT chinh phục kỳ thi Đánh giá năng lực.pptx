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7" r:id="rId6"/>
    <p:sldId id="265" r:id="rId7"/>
    <p:sldId id="261" r:id="rId8"/>
    <p:sldId id="262" r:id="rId9"/>
    <p:sldId id="266" r:id="rId10"/>
    <p:sldId id="263" r:id="rId11"/>
    <p:sldId id="264" r:id="rId12"/>
  </p:sldIdLst>
  <p:sldSz cx="18288000" cy="10287000"/>
  <p:notesSz cx="6858000" cy="9144000"/>
  <p:embeddedFontLst>
    <p:embeddedFont>
      <p:font typeface="Aptos Bold" panose="020B0604020202020204" charset="0"/>
      <p:regular r:id="rId14"/>
    </p:embeddedFont>
    <p:embeddedFont>
      <p:font typeface="Aptos Italics" panose="020B0604020202020204" charset="0"/>
      <p:regular r:id="rId15"/>
    </p:embeddedFont>
    <p:embeddedFont>
      <p:font typeface="Museo RMIT VN Bold" panose="020B0604020202020204" charset="0"/>
      <p:regular r:id="rId16"/>
    </p:embeddedFont>
    <p:embeddedFont>
      <p:font typeface="Museo RMIT VN Light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22" autoAdjust="0"/>
  </p:normalViewPr>
  <p:slideViewPr>
    <p:cSldViewPr>
      <p:cViewPr>
        <p:scale>
          <a:sx n="50" d="100"/>
          <a:sy n="50" d="100"/>
        </p:scale>
        <p:origin x="324" y="-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93634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3BEB5-4E50-4247-E3E8-3C5B27704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6CB739-B769-73F3-C031-A117E7E34D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5E8156-E1DB-8549-587F-A350B3C377A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094E8DC-3AA0-D087-3FF5-D7556939EC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FA9A447-1708-36B5-388D-D7CBB6F05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B2B53-3C82-3A7E-FDD2-F4B8CCC3152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F3BCA-155C-7DD0-F7BA-854EF2E4AC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21396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46B31-F383-2E63-5E3B-7C50AFA87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BE6EDF-C4FF-D01E-DDFC-2250DE1256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82C1B8-550A-29EA-5FB7-21B297348F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EB34E35-5F9A-83A2-3352-119E763DAA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5415DA0-BDB0-BB5C-4D58-04F83A20C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CD033-7D58-81F7-C654-EBA086D5EC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07E26-457D-B180-335C-54F5723137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90366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39351-D79F-079C-9AB5-226CF6661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46F7D1-76FA-6514-D8E3-05CC638F81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21E9EE-049A-8F9E-FCA0-EB4F852280F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9392122-0A9A-7777-9018-C179B653BE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174D5D4-6916-5D8F-93E5-F06B57963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EEA10-2CC4-A8F0-D6A9-6FCD79D00A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7B8783-BE97-5396-72B8-5434A51130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13719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4100" y="6362700"/>
            <a:ext cx="16230600" cy="3012805"/>
          </a:xfrm>
          <a:custGeom>
            <a:avLst/>
            <a:gdLst/>
            <a:ahLst/>
            <a:cxnLst/>
            <a:rect l="l" t="t" r="r" b="b"/>
            <a:pathLst>
              <a:path w="16230600" h="3012805">
                <a:moveTo>
                  <a:pt x="0" y="0"/>
                </a:moveTo>
                <a:lnTo>
                  <a:pt x="16230600" y="0"/>
                </a:lnTo>
                <a:lnTo>
                  <a:pt x="16230600" y="3012806"/>
                </a:lnTo>
                <a:lnTo>
                  <a:pt x="0" y="3012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grpSp>
        <p:nvGrpSpPr>
          <p:cNvPr id="3" name="Group 3"/>
          <p:cNvGrpSpPr/>
          <p:nvPr/>
        </p:nvGrpSpPr>
        <p:grpSpPr>
          <a:xfrm>
            <a:off x="4396352" y="6624086"/>
            <a:ext cx="2995048" cy="2251479"/>
            <a:chOff x="0" y="0"/>
            <a:chExt cx="3993397" cy="3001972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3768525" cy="4350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588"/>
                </a:lnSpc>
              </a:pPr>
              <a:r>
                <a:rPr lang="en-US" sz="2156" b="1" spc="79" dirty="0" err="1">
                  <a:solidFill>
                    <a:srgbClr val="FFFFFF"/>
                  </a:solidFill>
                  <a:latin typeface="Museo RMIT VN Bold"/>
                  <a:ea typeface="Museo RMIT VN Bold"/>
                  <a:cs typeface="Museo RMIT VN Bold"/>
                  <a:sym typeface="Museo RMIT VN Bold"/>
                </a:rPr>
                <a:t>Giáo</a:t>
              </a:r>
              <a:r>
                <a:rPr lang="en-US" sz="2156" b="1" spc="79" dirty="0">
                  <a:solidFill>
                    <a:srgbClr val="FFFFFF"/>
                  </a:solidFill>
                  <a:latin typeface="Museo RMIT VN Bold"/>
                  <a:ea typeface="Museo RMIT VN Bold"/>
                  <a:cs typeface="Museo RMIT VN Bold"/>
                  <a:sym typeface="Museo RMIT VN Bold"/>
                </a:rPr>
                <a:t> </a:t>
              </a:r>
              <a:r>
                <a:rPr lang="en-US" sz="2156" b="1" spc="79" dirty="0" err="1">
                  <a:solidFill>
                    <a:srgbClr val="FFFFFF"/>
                  </a:solidFill>
                  <a:latin typeface="Museo RMIT VN Bold"/>
                  <a:ea typeface="Museo RMIT VN Bold"/>
                  <a:cs typeface="Museo RMIT VN Bold"/>
                  <a:sym typeface="Museo RMIT VN Bold"/>
                </a:rPr>
                <a:t>viên</a:t>
              </a:r>
              <a:r>
                <a:rPr lang="en-US" sz="2156" b="1" spc="79" dirty="0">
                  <a:solidFill>
                    <a:srgbClr val="FFFFFF"/>
                  </a:solidFill>
                  <a:latin typeface="Museo RMIT VN Bold"/>
                  <a:ea typeface="Museo RMIT VN Bold"/>
                  <a:cs typeface="Museo RMIT VN Bold"/>
                  <a:sym typeface="Museo RMIT VN Bold"/>
                </a:rPr>
                <a:t> </a:t>
              </a:r>
              <a:r>
                <a:rPr lang="en-US" sz="2156" b="1" spc="79" dirty="0" err="1">
                  <a:solidFill>
                    <a:srgbClr val="FFFFFF"/>
                  </a:solidFill>
                  <a:latin typeface="Museo RMIT VN Bold"/>
                  <a:ea typeface="Museo RMIT VN Bold"/>
                  <a:cs typeface="Museo RMIT VN Bold"/>
                  <a:sym typeface="Museo RMIT VN Bold"/>
                </a:rPr>
                <a:t>thực</a:t>
              </a:r>
              <a:r>
                <a:rPr lang="en-US" sz="2156" b="1" spc="79" dirty="0">
                  <a:solidFill>
                    <a:srgbClr val="FFFFFF"/>
                  </a:solidFill>
                  <a:latin typeface="Museo RMIT VN Bold"/>
                  <a:ea typeface="Museo RMIT VN Bold"/>
                  <a:cs typeface="Museo RMIT VN Bold"/>
                  <a:sym typeface="Museo RMIT VN Bold"/>
                </a:rPr>
                <a:t> </a:t>
              </a:r>
              <a:r>
                <a:rPr lang="en-US" sz="2156" b="1" spc="79" dirty="0" err="1">
                  <a:solidFill>
                    <a:srgbClr val="FFFFFF"/>
                  </a:solidFill>
                  <a:latin typeface="Museo RMIT VN Bold"/>
                  <a:ea typeface="Museo RMIT VN Bold"/>
                  <a:cs typeface="Museo RMIT VN Bold"/>
                  <a:sym typeface="Museo RMIT VN Bold"/>
                </a:rPr>
                <a:t>hiện</a:t>
              </a:r>
              <a:endParaRPr lang="en-US" sz="2156" b="1" spc="79" dirty="0">
                <a:solidFill>
                  <a:srgbClr val="FFFFFF"/>
                </a:solidFill>
                <a:latin typeface="Museo RMIT VN Bold"/>
                <a:ea typeface="Museo RMIT VN Bold"/>
                <a:cs typeface="Museo RMIT VN Bold"/>
                <a:sym typeface="Museo RMIT VN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572708"/>
              <a:ext cx="3993397" cy="4292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2588"/>
                </a:lnSpc>
              </a:pPr>
              <a:r>
                <a:rPr lang="vi-VN" sz="2156">
                  <a:solidFill>
                    <a:srgbClr val="FFEA00"/>
                  </a:solidFill>
                  <a:latin typeface="Museo RMIT VN Light"/>
                  <a:ea typeface="Museo RMIT VN Light"/>
                  <a:cs typeface="Museo RMIT VN Light"/>
                  <a:sym typeface="Museo RMIT VN Light"/>
                </a:rPr>
                <a:t>Nguyễn Thị Thanh Lan</a:t>
              </a:r>
              <a:endParaRPr lang="en-US" sz="2156" dirty="0">
                <a:solidFill>
                  <a:srgbClr val="FFEA00"/>
                </a:solidFill>
                <a:latin typeface="Museo RMIT VN Light"/>
                <a:ea typeface="Museo RMIT VN Light"/>
                <a:cs typeface="Museo RMIT VN Light"/>
                <a:sym typeface="Museo RMIT VN Light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589229" y="5696988"/>
            <a:ext cx="1654581" cy="1854195"/>
          </a:xfrm>
          <a:custGeom>
            <a:avLst/>
            <a:gdLst/>
            <a:ahLst/>
            <a:cxnLst/>
            <a:rect l="l" t="t" r="r" b="b"/>
            <a:pathLst>
              <a:path w="1654581" h="1854195">
                <a:moveTo>
                  <a:pt x="0" y="0"/>
                </a:moveTo>
                <a:lnTo>
                  <a:pt x="1654581" y="0"/>
                </a:lnTo>
                <a:lnTo>
                  <a:pt x="1654581" y="1854195"/>
                </a:lnTo>
                <a:lnTo>
                  <a:pt x="0" y="18541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Freeform 9"/>
          <p:cNvSpPr/>
          <p:nvPr/>
        </p:nvSpPr>
        <p:spPr>
          <a:xfrm>
            <a:off x="0" y="0"/>
            <a:ext cx="18288000" cy="2880360"/>
          </a:xfrm>
          <a:custGeom>
            <a:avLst/>
            <a:gdLst/>
            <a:ahLst/>
            <a:cxnLst/>
            <a:rect l="l" t="t" r="r" b="b"/>
            <a:pathLst>
              <a:path w="18288000" h="2880360">
                <a:moveTo>
                  <a:pt x="0" y="0"/>
                </a:moveTo>
                <a:lnTo>
                  <a:pt x="18288000" y="0"/>
                </a:lnTo>
                <a:lnTo>
                  <a:pt x="18288000" y="2880360"/>
                </a:lnTo>
                <a:lnTo>
                  <a:pt x="0" y="28803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0" name="Freeform 10"/>
          <p:cNvSpPr/>
          <p:nvPr/>
        </p:nvSpPr>
        <p:spPr>
          <a:xfrm>
            <a:off x="0" y="0"/>
            <a:ext cx="18288000" cy="2880360"/>
          </a:xfrm>
          <a:custGeom>
            <a:avLst/>
            <a:gdLst/>
            <a:ahLst/>
            <a:cxnLst/>
            <a:rect l="l" t="t" r="r" b="b"/>
            <a:pathLst>
              <a:path w="18288000" h="2880360">
                <a:moveTo>
                  <a:pt x="0" y="0"/>
                </a:moveTo>
                <a:lnTo>
                  <a:pt x="18288000" y="0"/>
                </a:lnTo>
                <a:lnTo>
                  <a:pt x="18288000" y="2880360"/>
                </a:lnTo>
                <a:lnTo>
                  <a:pt x="0" y="28803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1" name="TextBox 11"/>
          <p:cNvSpPr txBox="1"/>
          <p:nvPr/>
        </p:nvSpPr>
        <p:spPr>
          <a:xfrm>
            <a:off x="1028700" y="3657600"/>
            <a:ext cx="16230600" cy="1290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 dirty="0">
                <a:solidFill>
                  <a:srgbClr val="002060"/>
                </a:solidFill>
                <a:latin typeface="Arial"/>
              </a:rPr>
              <a:t>HSA Master AI: </a:t>
            </a:r>
            <a:r>
              <a:rPr sz="4000" b="1" i="0" dirty="0" err="1">
                <a:solidFill>
                  <a:srgbClr val="002060"/>
                </a:solidFill>
                <a:latin typeface="Arial"/>
              </a:rPr>
              <a:t>Giải</a:t>
            </a:r>
            <a:r>
              <a:rPr sz="40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4000" b="1" i="0" dirty="0" err="1">
                <a:solidFill>
                  <a:srgbClr val="002060"/>
                </a:solidFill>
                <a:latin typeface="Arial"/>
              </a:rPr>
              <a:t>pháp</a:t>
            </a:r>
            <a:r>
              <a:rPr sz="40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4000" b="1" i="0" dirty="0" err="1">
                <a:solidFill>
                  <a:srgbClr val="002060"/>
                </a:solidFill>
                <a:latin typeface="Arial"/>
              </a:rPr>
              <a:t>số</a:t>
            </a:r>
            <a:r>
              <a:rPr sz="40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4000" b="1" i="0" dirty="0" err="1">
                <a:solidFill>
                  <a:srgbClr val="002060"/>
                </a:solidFill>
                <a:latin typeface="Arial"/>
              </a:rPr>
              <a:t>hóa</a:t>
            </a:r>
            <a:r>
              <a:rPr sz="40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4000" b="1" i="0" dirty="0" err="1">
                <a:solidFill>
                  <a:srgbClr val="002060"/>
                </a:solidFill>
                <a:latin typeface="Arial"/>
              </a:rPr>
              <a:t>học</a:t>
            </a:r>
            <a:r>
              <a:rPr sz="40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4000" b="1" i="0" dirty="0" err="1">
                <a:solidFill>
                  <a:srgbClr val="002060"/>
                </a:solidFill>
                <a:latin typeface="Arial"/>
              </a:rPr>
              <a:t>liệu</a:t>
            </a:r>
            <a:r>
              <a:rPr sz="40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4000" b="1" i="0" dirty="0" err="1">
                <a:solidFill>
                  <a:srgbClr val="002060"/>
                </a:solidFill>
                <a:latin typeface="Arial"/>
              </a:rPr>
              <a:t>Ngữ</a:t>
            </a:r>
            <a:r>
              <a:rPr sz="4000" b="1" i="0" dirty="0">
                <a:solidFill>
                  <a:srgbClr val="002060"/>
                </a:solidFill>
                <a:latin typeface="Arial"/>
              </a:rPr>
              <a:t> Văn</a:t>
            </a:r>
            <a:endParaRPr lang="en-US" sz="8000" b="1" spc="-322" dirty="0">
              <a:solidFill>
                <a:srgbClr val="000054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ct val="115000"/>
              </a:lnSpc>
            </a:pPr>
            <a:r>
              <a:rPr sz="3600" b="1" i="0" dirty="0" err="1">
                <a:solidFill>
                  <a:srgbClr val="002060"/>
                </a:solidFill>
                <a:latin typeface="Arial"/>
              </a:rPr>
              <a:t>và</a:t>
            </a:r>
            <a:r>
              <a:rPr sz="3600" b="1" i="0" dirty="0">
                <a:solidFill>
                  <a:srgbClr val="002060"/>
                </a:solidFill>
                <a:latin typeface="Arial"/>
              </a:rPr>
              <a:t> Gia </a:t>
            </a:r>
            <a:r>
              <a:rPr sz="3600" b="1" i="0" dirty="0" err="1">
                <a:solidFill>
                  <a:srgbClr val="002060"/>
                </a:solidFill>
                <a:latin typeface="Arial"/>
              </a:rPr>
              <a:t>sư</a:t>
            </a:r>
            <a:r>
              <a:rPr sz="36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3600" b="1" i="0" dirty="0" err="1">
                <a:solidFill>
                  <a:srgbClr val="002060"/>
                </a:solidFill>
                <a:latin typeface="Arial"/>
              </a:rPr>
              <a:t>ảo</a:t>
            </a:r>
            <a:r>
              <a:rPr sz="36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3600" b="1" i="0" dirty="0" err="1">
                <a:solidFill>
                  <a:srgbClr val="002060"/>
                </a:solidFill>
                <a:latin typeface="Arial"/>
              </a:rPr>
              <a:t>hỗ</a:t>
            </a:r>
            <a:r>
              <a:rPr sz="36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3600" b="1" i="0" dirty="0" err="1">
                <a:solidFill>
                  <a:srgbClr val="002060"/>
                </a:solidFill>
                <a:latin typeface="Arial"/>
              </a:rPr>
              <a:t>trợ</a:t>
            </a:r>
            <a:r>
              <a:rPr sz="36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3600" b="1" i="0" dirty="0" err="1">
                <a:solidFill>
                  <a:srgbClr val="002060"/>
                </a:solidFill>
                <a:latin typeface="Arial"/>
              </a:rPr>
              <a:t>học</a:t>
            </a:r>
            <a:r>
              <a:rPr sz="36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3600" b="1" i="0" dirty="0" err="1">
                <a:solidFill>
                  <a:srgbClr val="002060"/>
                </a:solidFill>
                <a:latin typeface="Arial"/>
              </a:rPr>
              <a:t>sinh</a:t>
            </a:r>
            <a:r>
              <a:rPr sz="3600" b="1" i="0" dirty="0">
                <a:solidFill>
                  <a:srgbClr val="002060"/>
                </a:solidFill>
                <a:latin typeface="Arial"/>
              </a:rPr>
              <a:t> THPT </a:t>
            </a:r>
            <a:r>
              <a:rPr sz="3600" b="1" i="0" dirty="0" err="1">
                <a:solidFill>
                  <a:srgbClr val="002060"/>
                </a:solidFill>
                <a:latin typeface="Arial"/>
              </a:rPr>
              <a:t>chinh</a:t>
            </a:r>
            <a:r>
              <a:rPr sz="36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3600" b="1" i="0" dirty="0" err="1">
                <a:solidFill>
                  <a:srgbClr val="002060"/>
                </a:solidFill>
                <a:latin typeface="Arial"/>
              </a:rPr>
              <a:t>phục</a:t>
            </a:r>
            <a:r>
              <a:rPr sz="36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3600" b="1" i="0" dirty="0" err="1">
                <a:solidFill>
                  <a:srgbClr val="002060"/>
                </a:solidFill>
                <a:latin typeface="Arial"/>
              </a:rPr>
              <a:t>kỳ</a:t>
            </a:r>
            <a:r>
              <a:rPr sz="36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3600" b="1" i="0" dirty="0" err="1">
                <a:solidFill>
                  <a:srgbClr val="002060"/>
                </a:solidFill>
                <a:latin typeface="Arial"/>
              </a:rPr>
              <a:t>thi</a:t>
            </a:r>
            <a:r>
              <a:rPr sz="36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3600" b="1" i="0" dirty="0" err="1">
                <a:solidFill>
                  <a:srgbClr val="002060"/>
                </a:solidFill>
                <a:latin typeface="Arial"/>
              </a:rPr>
              <a:t>Đánh</a:t>
            </a:r>
            <a:r>
              <a:rPr sz="36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3600" b="1" i="0" dirty="0" err="1">
                <a:solidFill>
                  <a:srgbClr val="002060"/>
                </a:solidFill>
                <a:latin typeface="Arial"/>
              </a:rPr>
              <a:t>giá</a:t>
            </a:r>
            <a:r>
              <a:rPr sz="36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3600" b="1" i="0" dirty="0" err="1">
                <a:solidFill>
                  <a:srgbClr val="002060"/>
                </a:solidFill>
                <a:latin typeface="Arial"/>
              </a:rPr>
              <a:t>năng</a:t>
            </a:r>
            <a:r>
              <a:rPr sz="36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3600" b="1" i="0" dirty="0" err="1">
                <a:solidFill>
                  <a:srgbClr val="002060"/>
                </a:solidFill>
                <a:latin typeface="Arial"/>
              </a:rPr>
              <a:t>lực</a:t>
            </a:r>
            <a:endParaRPr sz="3600" b="1" i="0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395088" y="6718687"/>
            <a:ext cx="7229682" cy="684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sz="1950" b="1" i="0" dirty="0" err="1">
                <a:solidFill>
                  <a:srgbClr val="FFFFFF"/>
                </a:solidFill>
                <a:latin typeface="Arial"/>
              </a:rPr>
              <a:t>Đơn</a:t>
            </a:r>
            <a:r>
              <a:rPr sz="19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FFFFFF"/>
                </a:solidFill>
                <a:latin typeface="Arial"/>
              </a:rPr>
              <a:t>vị</a:t>
            </a:r>
            <a:r>
              <a:rPr sz="19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FFFFFF"/>
                </a:solidFill>
                <a:latin typeface="Arial"/>
              </a:rPr>
              <a:t>công</a:t>
            </a:r>
            <a:r>
              <a:rPr sz="19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FFFFFF"/>
                </a:solidFill>
                <a:latin typeface="Arial"/>
              </a:rPr>
              <a:t>tác</a:t>
            </a:r>
            <a:r>
              <a:rPr sz="1950" b="1" i="0" dirty="0">
                <a:solidFill>
                  <a:srgbClr val="FFFFFF"/>
                </a:solidFill>
                <a:latin typeface="Arial"/>
              </a:rPr>
              <a:t>:</a:t>
            </a:r>
          </a:p>
          <a:p>
            <a:r>
              <a:rPr sz="1950" b="0" i="0" dirty="0" err="1">
                <a:solidFill>
                  <a:srgbClr val="FFFFFF"/>
                </a:solidFill>
                <a:latin typeface="Arial"/>
              </a:rPr>
              <a:t>Tổ</a:t>
            </a:r>
            <a:r>
              <a:rPr sz="195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FFFFFF"/>
                </a:solidFill>
                <a:latin typeface="Arial"/>
              </a:rPr>
              <a:t>Ngữ</a:t>
            </a:r>
            <a:r>
              <a:rPr sz="195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FFFFFF"/>
                </a:solidFill>
                <a:latin typeface="Arial"/>
              </a:rPr>
              <a:t>văn</a:t>
            </a:r>
            <a:r>
              <a:rPr sz="1950" b="0" i="0" dirty="0">
                <a:solidFill>
                  <a:srgbClr val="FFFFFF"/>
                </a:solidFill>
                <a:latin typeface="Arial"/>
              </a:rPr>
              <a:t> – </a:t>
            </a:r>
            <a:r>
              <a:rPr sz="1950" b="0" i="0" dirty="0" err="1">
                <a:solidFill>
                  <a:srgbClr val="FFFFFF"/>
                </a:solidFill>
                <a:latin typeface="Arial"/>
              </a:rPr>
              <a:t>Ngoại</a:t>
            </a:r>
            <a:r>
              <a:rPr sz="195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FFFFFF"/>
                </a:solidFill>
                <a:latin typeface="Arial"/>
              </a:rPr>
              <a:t>ngữ</a:t>
            </a:r>
            <a:r>
              <a:rPr sz="1950" b="0" i="0" dirty="0">
                <a:solidFill>
                  <a:srgbClr val="FFFFFF"/>
                </a:solidFill>
                <a:latin typeface="Arial"/>
              </a:rPr>
              <a:t> | Trường THPT </a:t>
            </a:r>
            <a:r>
              <a:rPr sz="1950" b="0" i="0" dirty="0" err="1">
                <a:solidFill>
                  <a:srgbClr val="FFFFFF"/>
                </a:solidFill>
                <a:latin typeface="Arial"/>
              </a:rPr>
              <a:t>Chương</a:t>
            </a:r>
            <a:r>
              <a:rPr sz="195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FFFFFF"/>
                </a:solidFill>
                <a:latin typeface="Arial"/>
              </a:rPr>
              <a:t>Mỹ</a:t>
            </a:r>
            <a:r>
              <a:rPr sz="1950" b="0" i="0" dirty="0">
                <a:solidFill>
                  <a:srgbClr val="FFFFFF"/>
                </a:solidFill>
                <a:latin typeface="Arial"/>
              </a:rPr>
              <a:t> 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95088" y="8021732"/>
            <a:ext cx="4557809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999"/>
              </a:lnSpc>
              <a:spcBef>
                <a:spcPct val="0"/>
              </a:spcBef>
            </a:pPr>
            <a:r>
              <a:rPr sz="1950" b="1" i="0" dirty="0">
                <a:solidFill>
                  <a:srgbClr val="FFFFFF"/>
                </a:solidFill>
                <a:latin typeface="Arial"/>
              </a:rPr>
              <a:t>Email:</a:t>
            </a:r>
          </a:p>
          <a:p>
            <a:r>
              <a:rPr sz="1950" b="0" i="0" dirty="0">
                <a:solidFill>
                  <a:srgbClr val="FFFFFF"/>
                </a:solidFill>
                <a:latin typeface="Arial"/>
              </a:rPr>
              <a:t>Tieulanthuytinh@gmail.com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C84799-F11C-5E18-DE42-9A9A6AB8D4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788" y="7072293"/>
            <a:ext cx="1436176" cy="14345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9144000" cy="10287000"/>
          </a:xfrm>
          <a:custGeom>
            <a:avLst/>
            <a:gdLst/>
            <a:ahLst/>
            <a:cxnLst/>
            <a:rect l="l" t="t" r="r" b="b"/>
            <a:pathLst>
              <a:path w="9144000" h="10287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00000"/>
            </a:stretch>
          </a:blipFill>
        </p:spPr>
        <p:txBody>
          <a:bodyPr/>
          <a:lstStyle/>
          <a:p>
            <a:endParaRPr lang="en-AU"/>
          </a:p>
        </p:txBody>
      </p:sp>
      <p:grpSp>
        <p:nvGrpSpPr>
          <p:cNvPr id="4" name="Group 4"/>
          <p:cNvGrpSpPr/>
          <p:nvPr/>
        </p:nvGrpSpPr>
        <p:grpSpPr>
          <a:xfrm>
            <a:off x="1028700" y="952500"/>
            <a:ext cx="6952685" cy="8153400"/>
            <a:chOff x="0" y="0"/>
            <a:chExt cx="1831160" cy="21473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31160" cy="2147398"/>
            </a:xfrm>
            <a:custGeom>
              <a:avLst/>
              <a:gdLst/>
              <a:ahLst/>
              <a:cxnLst/>
              <a:rect l="l" t="t" r="r" b="b"/>
              <a:pathLst>
                <a:path w="1831160" h="2147398">
                  <a:moveTo>
                    <a:pt x="0" y="0"/>
                  </a:moveTo>
                  <a:lnTo>
                    <a:pt x="1831160" y="0"/>
                  </a:lnTo>
                  <a:lnTo>
                    <a:pt x="1831160" y="2147398"/>
                  </a:lnTo>
                  <a:lnTo>
                    <a:pt x="0" y="21473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1831160" cy="2080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54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976477" y="895350"/>
            <a:ext cx="7606673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sz="3800" b="1" i="0" dirty="0">
                <a:solidFill>
                  <a:srgbClr val="002060"/>
                </a:solidFill>
                <a:latin typeface="Arial"/>
              </a:rPr>
              <a:t>NỘI DUNG BÀI TRÌNH BÀY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93948" y="9428646"/>
            <a:ext cx="6889202" cy="62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4"/>
              </a:lnSpc>
            </a:pPr>
            <a:r>
              <a:rPr lang="en-US" sz="2600" b="1" spc="96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Giải Thưởng Tiên Phong Ứng Dụng AI Trong Giáo Dục Việt Nam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02422" y="1856514"/>
            <a:ext cx="6733407" cy="559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4661"/>
              </a:lnSpc>
              <a:buFont typeface="Arial"/>
              <a:buChar char="•"/>
            </a:pPr>
            <a:endParaRPr lang="en-US" sz="3026" i="1" dirty="0">
              <a:solidFill>
                <a:srgbClr val="000054"/>
              </a:solidFill>
              <a:latin typeface="Aptos Italics"/>
              <a:ea typeface="Aptos Italics"/>
              <a:cs typeface="Aptos Italics"/>
              <a:sym typeface="Aptos Itali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882397" y="4389696"/>
            <a:ext cx="5245291" cy="1145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1"/>
              </a:lnSpc>
            </a:pPr>
            <a:endParaRPr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EABDFB6A-F7B3-4507-6E99-CCDFBFC83C9A}"/>
              </a:ext>
            </a:extLst>
          </p:cNvPr>
          <p:cNvSpPr txBox="1"/>
          <p:nvPr/>
        </p:nvSpPr>
        <p:spPr>
          <a:xfrm>
            <a:off x="10413109" y="2497135"/>
            <a:ext cx="6733407" cy="5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4661"/>
              </a:lnSpc>
              <a:buFont typeface="Arial"/>
              <a:buChar char="•"/>
            </a:pPr>
            <a:endParaRPr lang="en-US" i="1" dirty="0">
              <a:solidFill>
                <a:srgbClr val="000054"/>
              </a:solidFill>
              <a:latin typeface="Aptos Italics"/>
              <a:ea typeface="Aptos Italics"/>
              <a:cs typeface="Aptos Italics"/>
              <a:sym typeface="Aptos Italics"/>
            </a:endParaRP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44F39801-30D2-F91C-168E-197C03198711}"/>
              </a:ext>
            </a:extLst>
          </p:cNvPr>
          <p:cNvSpPr txBox="1"/>
          <p:nvPr/>
        </p:nvSpPr>
        <p:spPr>
          <a:xfrm>
            <a:off x="10525893" y="3413649"/>
            <a:ext cx="6733407" cy="5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4661"/>
              </a:lnSpc>
              <a:buFont typeface="Arial"/>
              <a:buChar char="•"/>
            </a:pPr>
            <a:endParaRPr lang="en-US" i="1" dirty="0">
              <a:solidFill>
                <a:srgbClr val="000054"/>
              </a:solidFill>
              <a:latin typeface="Aptos Italics"/>
              <a:ea typeface="Aptos Italics"/>
              <a:cs typeface="Aptos Italics"/>
              <a:sym typeface="Aptos Italics"/>
            </a:endParaRP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3685271E-0623-6AA6-2890-4F6457E3F339}"/>
              </a:ext>
            </a:extLst>
          </p:cNvPr>
          <p:cNvSpPr txBox="1"/>
          <p:nvPr/>
        </p:nvSpPr>
        <p:spPr>
          <a:xfrm>
            <a:off x="10531112" y="4325873"/>
            <a:ext cx="6733407" cy="5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4661"/>
              </a:lnSpc>
              <a:buFont typeface="Arial"/>
              <a:buChar char="•"/>
            </a:pPr>
            <a:endParaRPr lang="en-US" i="1" dirty="0">
              <a:solidFill>
                <a:srgbClr val="000054"/>
              </a:solidFill>
              <a:latin typeface="Aptos Italics"/>
              <a:ea typeface="Aptos Italics"/>
              <a:cs typeface="Aptos Italics"/>
              <a:sym typeface="Aptos Italics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91145094-D0E2-300E-DA72-17D7413AFB83}"/>
              </a:ext>
            </a:extLst>
          </p:cNvPr>
          <p:cNvSpPr txBox="1"/>
          <p:nvPr/>
        </p:nvSpPr>
        <p:spPr>
          <a:xfrm>
            <a:off x="10413108" y="5225202"/>
            <a:ext cx="6733407" cy="5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4661"/>
              </a:lnSpc>
              <a:buFont typeface="Arial"/>
              <a:buChar char="•"/>
            </a:pPr>
            <a:endParaRPr lang="en-US" i="1" dirty="0">
              <a:solidFill>
                <a:srgbClr val="000054"/>
              </a:solidFill>
              <a:latin typeface="Aptos Italics"/>
              <a:ea typeface="Aptos Italics"/>
              <a:cs typeface="Aptos Italics"/>
              <a:sym typeface="Aptos Italics"/>
            </a:endParaRPr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F7A2612E-D8FC-5392-2638-6CCF26F81AD6}"/>
              </a:ext>
            </a:extLst>
          </p:cNvPr>
          <p:cNvSpPr txBox="1"/>
          <p:nvPr/>
        </p:nvSpPr>
        <p:spPr>
          <a:xfrm>
            <a:off x="10287000" y="6033210"/>
            <a:ext cx="6733407" cy="5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4661"/>
              </a:lnSpc>
              <a:buFont typeface="Arial"/>
              <a:buChar char="•"/>
            </a:pPr>
            <a:endParaRPr lang="en-US" i="1" dirty="0">
              <a:solidFill>
                <a:srgbClr val="000054"/>
              </a:solidFill>
              <a:latin typeface="Aptos Italics"/>
              <a:ea typeface="Aptos Italics"/>
              <a:cs typeface="Aptos Italics"/>
              <a:sym typeface="Aptos Italics"/>
            </a:endParaRP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9A8DFD8D-7A11-FEED-A157-7028311CF36D}"/>
              </a:ext>
            </a:extLst>
          </p:cNvPr>
          <p:cNvSpPr txBox="1"/>
          <p:nvPr/>
        </p:nvSpPr>
        <p:spPr>
          <a:xfrm>
            <a:off x="10479819" y="7022663"/>
            <a:ext cx="6733407" cy="5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4661"/>
              </a:lnSpc>
              <a:buFont typeface="Arial"/>
              <a:buChar char="•"/>
            </a:pPr>
            <a:endParaRPr lang="en-US" i="1" dirty="0">
              <a:solidFill>
                <a:srgbClr val="000054"/>
              </a:solidFill>
              <a:latin typeface="Aptos Italics"/>
              <a:ea typeface="Aptos Italics"/>
              <a:cs typeface="Aptos Italics"/>
              <a:sym typeface="Aptos Itali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43000" y="5623560"/>
            <a:ext cx="6711696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02060"/>
                </a:solidFill>
                <a:latin typeface="Arial"/>
              </a:rPr>
              <a:t>Giao </a:t>
            </a:r>
            <a:r>
              <a:rPr sz="2000" b="1" i="0" dirty="0" err="1">
                <a:solidFill>
                  <a:srgbClr val="002060"/>
                </a:solidFill>
                <a:latin typeface="Arial"/>
              </a:rPr>
              <a:t>diện</a:t>
            </a:r>
            <a:r>
              <a:rPr sz="2000" b="1" i="0" dirty="0">
                <a:solidFill>
                  <a:srgbClr val="002060"/>
                </a:solidFill>
                <a:latin typeface="Arial"/>
              </a:rPr>
              <a:t> Web App HSA Master AI</a:t>
            </a:r>
            <a:r>
              <a:rPr lang="vi-VN" sz="2000" b="1" i="0" dirty="0">
                <a:solidFill>
                  <a:srgbClr val="002060"/>
                </a:solidFill>
                <a:latin typeface="Arial"/>
              </a:rPr>
              <a:t> </a:t>
            </a:r>
          </a:p>
          <a:p>
            <a:pPr algn="ctr"/>
            <a:r>
              <a:rPr lang="vi-VN" sz="2000" b="1" dirty="0">
                <a:solidFill>
                  <a:srgbClr val="002060"/>
                </a:solidFill>
                <a:latin typeface="Arial"/>
              </a:rPr>
              <a:t>( Phần thi Tư duy định tính – Văn học và ngôn ngữ)</a:t>
            </a:r>
            <a:endParaRPr lang="vi-VN" sz="2000" b="1" i="0" dirty="0">
              <a:solidFill>
                <a:srgbClr val="002060"/>
              </a:solidFill>
              <a:latin typeface="Arial"/>
            </a:endParaRPr>
          </a:p>
          <a:p>
            <a:br>
              <a:rPr sz="2400" dirty="0"/>
            </a:br>
            <a:r>
              <a:rPr b="0" i="0" dirty="0">
                <a:solidFill>
                  <a:srgbClr val="5A5A5A"/>
                </a:solidFill>
                <a:latin typeface="Arial"/>
              </a:rPr>
              <a:t>• </a:t>
            </a:r>
            <a:r>
              <a:rPr lang="vi-VN" b="0" i="0" dirty="0">
                <a:solidFill>
                  <a:srgbClr val="5A5A5A"/>
                </a:solidFill>
                <a:latin typeface="Arial"/>
              </a:rPr>
              <a:t>    </a:t>
            </a:r>
            <a:r>
              <a:rPr b="0" i="0" dirty="0">
                <a:solidFill>
                  <a:srgbClr val="5A5A5A"/>
                </a:solidFill>
                <a:latin typeface="Arial"/>
              </a:rPr>
              <a:t>50 </a:t>
            </a:r>
            <a:r>
              <a:rPr b="0" i="0" dirty="0" err="1">
                <a:solidFill>
                  <a:srgbClr val="5A5A5A"/>
                </a:solidFill>
                <a:latin typeface="Arial"/>
              </a:rPr>
              <a:t>đề</a:t>
            </a:r>
            <a:r>
              <a:rPr b="0" i="0" dirty="0">
                <a:solidFill>
                  <a:srgbClr val="5A5A5A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5A5A5A"/>
                </a:solidFill>
                <a:latin typeface="Arial"/>
              </a:rPr>
              <a:t>chuẩn</a:t>
            </a:r>
            <a:r>
              <a:rPr b="0" i="0" dirty="0">
                <a:solidFill>
                  <a:srgbClr val="5A5A5A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5A5A5A"/>
                </a:solidFill>
                <a:latin typeface="Arial"/>
              </a:rPr>
              <a:t>hóa</a:t>
            </a:r>
            <a:r>
              <a:rPr b="0" i="0" dirty="0">
                <a:solidFill>
                  <a:srgbClr val="5A5A5A"/>
                </a:solidFill>
                <a:latin typeface="Arial"/>
              </a:rPr>
              <a:t> ma </a:t>
            </a:r>
            <a:r>
              <a:rPr b="0" i="0" dirty="0" err="1">
                <a:solidFill>
                  <a:srgbClr val="5A5A5A"/>
                </a:solidFill>
                <a:latin typeface="Arial"/>
              </a:rPr>
              <a:t>trận</a:t>
            </a:r>
            <a:r>
              <a:rPr b="0" i="0" dirty="0">
                <a:solidFill>
                  <a:srgbClr val="5A5A5A"/>
                </a:solidFill>
                <a:latin typeface="Arial"/>
              </a:rPr>
              <a:t> HSA</a:t>
            </a:r>
            <a:r>
              <a:rPr lang="vi-VN" b="0" i="0" dirty="0">
                <a:solidFill>
                  <a:srgbClr val="5A5A5A"/>
                </a:solidFill>
                <a:latin typeface="Arial"/>
              </a:rPr>
              <a:t> phần Văn học và Ngôn ngữ (Tư duy định tính) với</a:t>
            </a:r>
            <a:r>
              <a:rPr b="0" i="0" dirty="0">
                <a:solidFill>
                  <a:srgbClr val="5A5A5A"/>
                </a:solidFill>
                <a:latin typeface="Arial"/>
              </a:rPr>
              <a:t> 4.028 </a:t>
            </a:r>
            <a:r>
              <a:rPr b="0" i="0" dirty="0" err="1">
                <a:solidFill>
                  <a:srgbClr val="5A5A5A"/>
                </a:solidFill>
                <a:latin typeface="Arial"/>
              </a:rPr>
              <a:t>câu</a:t>
            </a:r>
            <a:r>
              <a:rPr b="0" i="0" dirty="0">
                <a:solidFill>
                  <a:srgbClr val="5A5A5A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5A5A5A"/>
                </a:solidFill>
                <a:latin typeface="Arial"/>
              </a:rPr>
              <a:t>hỏi</a:t>
            </a:r>
            <a:r>
              <a:rPr b="0" i="0" dirty="0">
                <a:solidFill>
                  <a:srgbClr val="5A5A5A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5A5A5A"/>
                </a:solidFill>
                <a:latin typeface="Arial"/>
              </a:rPr>
              <a:t>số</a:t>
            </a:r>
            <a:r>
              <a:rPr b="0" i="0" dirty="0">
                <a:solidFill>
                  <a:srgbClr val="5A5A5A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5A5A5A"/>
                </a:solidFill>
                <a:latin typeface="Arial"/>
              </a:rPr>
              <a:t>hóa</a:t>
            </a:r>
            <a:br>
              <a:rPr sz="2800" dirty="0"/>
            </a:br>
            <a:r>
              <a:rPr b="0" i="0" dirty="0">
                <a:solidFill>
                  <a:srgbClr val="5A5A5A"/>
                </a:solidFill>
                <a:latin typeface="Arial"/>
              </a:rPr>
              <a:t>•</a:t>
            </a:r>
            <a:r>
              <a:rPr lang="vi-VN" b="0" i="0" dirty="0">
                <a:solidFill>
                  <a:srgbClr val="5A5A5A"/>
                </a:solidFill>
                <a:latin typeface="Arial"/>
              </a:rPr>
              <a:t>     </a:t>
            </a:r>
            <a:r>
              <a:rPr b="0" i="0" dirty="0">
                <a:solidFill>
                  <a:srgbClr val="5A5A5A"/>
                </a:solidFill>
                <a:latin typeface="Arial"/>
              </a:rPr>
              <a:t>Gia </a:t>
            </a:r>
            <a:r>
              <a:rPr b="0" i="0" dirty="0" err="1">
                <a:solidFill>
                  <a:srgbClr val="5A5A5A"/>
                </a:solidFill>
                <a:latin typeface="Arial"/>
              </a:rPr>
              <a:t>sư</a:t>
            </a:r>
            <a:r>
              <a:rPr b="0" i="0" dirty="0">
                <a:solidFill>
                  <a:srgbClr val="5A5A5A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5A5A5A"/>
                </a:solidFill>
                <a:latin typeface="Arial"/>
              </a:rPr>
              <a:t>ảo</a:t>
            </a:r>
            <a:r>
              <a:rPr b="0" i="0" dirty="0">
                <a:solidFill>
                  <a:srgbClr val="5A5A5A"/>
                </a:solidFill>
                <a:latin typeface="Arial"/>
              </a:rPr>
              <a:t> AI </a:t>
            </a:r>
            <a:r>
              <a:rPr b="0" i="0" dirty="0" err="1">
                <a:solidFill>
                  <a:srgbClr val="5A5A5A"/>
                </a:solidFill>
                <a:latin typeface="Arial"/>
              </a:rPr>
              <a:t>chấm</a:t>
            </a:r>
            <a:r>
              <a:rPr b="0" i="0" dirty="0">
                <a:solidFill>
                  <a:srgbClr val="5A5A5A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5A5A5A"/>
                </a:solidFill>
                <a:latin typeface="Arial"/>
              </a:rPr>
              <a:t>điểm</a:t>
            </a:r>
            <a:r>
              <a:rPr b="0" i="0" dirty="0">
                <a:solidFill>
                  <a:srgbClr val="5A5A5A"/>
                </a:solidFill>
                <a:latin typeface="Arial"/>
              </a:rPr>
              <a:t> </a:t>
            </a:r>
            <a:r>
              <a:rPr lang="vi-VN" dirty="0">
                <a:solidFill>
                  <a:srgbClr val="5A5A5A"/>
                </a:solidFill>
                <a:latin typeface="Arial"/>
              </a:rPr>
              <a:t>và </a:t>
            </a:r>
            <a:r>
              <a:rPr b="0" i="0" dirty="0" err="1">
                <a:solidFill>
                  <a:srgbClr val="5A5A5A"/>
                </a:solidFill>
                <a:latin typeface="Arial"/>
              </a:rPr>
              <a:t>giải</a:t>
            </a:r>
            <a:r>
              <a:rPr b="0" i="0" dirty="0">
                <a:solidFill>
                  <a:srgbClr val="5A5A5A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5A5A5A"/>
                </a:solidFill>
                <a:latin typeface="Arial"/>
              </a:rPr>
              <a:t>thích</a:t>
            </a:r>
            <a:r>
              <a:rPr b="0" i="0" dirty="0">
                <a:solidFill>
                  <a:srgbClr val="5A5A5A"/>
                </a:solidFill>
                <a:latin typeface="Arial"/>
              </a:rPr>
              <a:t> 1-1 </a:t>
            </a:r>
            <a:r>
              <a:rPr b="0" i="0" dirty="0" err="1">
                <a:solidFill>
                  <a:srgbClr val="5A5A5A"/>
                </a:solidFill>
                <a:latin typeface="Arial"/>
              </a:rPr>
              <a:t>tức</a:t>
            </a:r>
            <a:r>
              <a:rPr b="0" i="0" dirty="0">
                <a:solidFill>
                  <a:srgbClr val="5A5A5A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5A5A5A"/>
                </a:solidFill>
                <a:latin typeface="Arial"/>
              </a:rPr>
              <a:t>thì</a:t>
            </a:r>
            <a:r>
              <a:rPr b="0" i="0" dirty="0">
                <a:solidFill>
                  <a:srgbClr val="5A5A5A"/>
                </a:solidFill>
                <a:latin typeface="Arial"/>
              </a:rPr>
              <a:t> 24/7</a:t>
            </a:r>
            <a:endParaRPr lang="vi-VN" b="0" i="0" dirty="0">
              <a:solidFill>
                <a:srgbClr val="5A5A5A"/>
              </a:solidFill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rgbClr val="5A5A5A"/>
                </a:solidFill>
                <a:latin typeface="Arial"/>
              </a:rPr>
              <a:t>Làm đề theo dạng để nâng điểm từng phần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5A5A5A"/>
                </a:solidFill>
                <a:latin typeface="Arial"/>
              </a:rPr>
              <a:t>Vinh danh thí sinh đạt điểm cao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5A5A5A"/>
                </a:solidFill>
                <a:latin typeface="Arial"/>
              </a:rPr>
              <a:t>Thống kê để thầy cô tiện theo dõi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5A5A5A"/>
                </a:solidFill>
                <a:latin typeface="Arial"/>
              </a:rPr>
              <a:t>Mã QR tiện chia sẻ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sz="1600" b="0" i="0" dirty="0">
              <a:solidFill>
                <a:srgbClr val="5A5A5A"/>
              </a:solidFill>
              <a:latin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326880" y="1920240"/>
            <a:ext cx="8046720" cy="658368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509760" y="2103120"/>
            <a:ext cx="7680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646920" y="2267712"/>
            <a:ext cx="621792" cy="62179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2176272"/>
            <a:ext cx="6720840" cy="702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1" i="0" dirty="0" err="1">
                <a:solidFill>
                  <a:srgbClr val="002060"/>
                </a:solidFill>
                <a:latin typeface="Arial"/>
              </a:rPr>
              <a:t>Bối</a:t>
            </a:r>
            <a:r>
              <a:rPr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cảnh</a:t>
            </a:r>
            <a:r>
              <a:rPr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và</a:t>
            </a:r>
            <a:r>
              <a:rPr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vấn</a:t>
            </a:r>
            <a:r>
              <a:rPr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đề</a:t>
            </a:r>
            <a:r>
              <a:rPr b="1" i="0" dirty="0">
                <a:solidFill>
                  <a:srgbClr val="002060"/>
                </a:solidFill>
                <a:latin typeface="Arial"/>
              </a:rPr>
              <a:t>:
</a:t>
            </a:r>
            <a:r>
              <a:rPr b="0" i="0" dirty="0">
                <a:solidFill>
                  <a:srgbClr val="262626"/>
                </a:solidFill>
                <a:latin typeface="Arial"/>
              </a:rPr>
              <a:t>Nhu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cầu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ôn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thi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HSA &amp; </a:t>
            </a:r>
            <a:r>
              <a:rPr lang="vi-VN" b="0" i="0" dirty="0">
                <a:solidFill>
                  <a:srgbClr val="262626"/>
                </a:solidFill>
                <a:latin typeface="Arial"/>
              </a:rPr>
              <a:t>những r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ào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cản</a:t>
            </a:r>
            <a:r>
              <a:rPr lang="vi-VN" b="0" i="0" dirty="0">
                <a:solidFill>
                  <a:srgbClr val="262626"/>
                </a:solidFill>
                <a:latin typeface="Arial"/>
              </a:rPr>
              <a:t> đang tồn tại</a:t>
            </a:r>
            <a:endParaRPr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509760" y="3172968"/>
            <a:ext cx="7680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646920" y="3337560"/>
            <a:ext cx="621792" cy="62179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9296" y="3158935"/>
            <a:ext cx="6720840" cy="1020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1" i="0" dirty="0">
                <a:solidFill>
                  <a:srgbClr val="002060"/>
                </a:solidFill>
                <a:latin typeface="Arial"/>
              </a:rPr>
              <a:t>Ý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tưởng</a:t>
            </a:r>
            <a:r>
              <a:rPr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và</a:t>
            </a:r>
            <a:r>
              <a:rPr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giải</a:t>
            </a:r>
            <a:r>
              <a:rPr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pháp</a:t>
            </a:r>
            <a:r>
              <a:rPr b="1" i="0" dirty="0">
                <a:solidFill>
                  <a:srgbClr val="002060"/>
                </a:solidFill>
                <a:latin typeface="Arial"/>
              </a:rPr>
              <a:t>:
</a:t>
            </a:r>
            <a:r>
              <a:rPr b="0" i="0" dirty="0">
                <a:solidFill>
                  <a:srgbClr val="262626"/>
                </a:solidFill>
                <a:latin typeface="Arial"/>
              </a:rPr>
              <a:t>Web App HSA Master AI </a:t>
            </a:r>
            <a:r>
              <a:rPr lang="vi-VN" b="0" i="0" dirty="0">
                <a:solidFill>
                  <a:srgbClr val="262626"/>
                </a:solidFill>
                <a:latin typeface="Arial"/>
              </a:rPr>
              <a:t>( phần Tư duy Định tính – Văn học và ngôn ngữ)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ứng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dụng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mô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hình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"AI </a:t>
            </a:r>
            <a:r>
              <a:rPr lang="vi-VN" dirty="0">
                <a:solidFill>
                  <a:srgbClr val="262626"/>
                </a:solidFill>
                <a:latin typeface="Arial"/>
              </a:rPr>
              <a:t>k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ép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có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trách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nhiệm</a:t>
            </a:r>
            <a:r>
              <a:rPr b="0" i="0" dirty="0">
                <a:solidFill>
                  <a:srgbClr val="262626"/>
                </a:solidFill>
                <a:latin typeface="Arial"/>
              </a:rPr>
              <a:t>".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4242816"/>
            <a:ext cx="7680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646920" y="4407408"/>
            <a:ext cx="621792" cy="62179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4315968"/>
            <a:ext cx="6720840" cy="702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1" i="0" dirty="0">
                <a:solidFill>
                  <a:srgbClr val="002060"/>
                </a:solidFill>
                <a:latin typeface="Arial"/>
              </a:rPr>
              <a:t>Quy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trình</a:t>
            </a:r>
            <a:r>
              <a:rPr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thực</a:t>
            </a:r>
            <a:r>
              <a:rPr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hiện</a:t>
            </a:r>
            <a:r>
              <a:rPr b="1" i="0" dirty="0">
                <a:solidFill>
                  <a:srgbClr val="002060"/>
                </a:solidFill>
                <a:latin typeface="Arial"/>
              </a:rPr>
              <a:t>:
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Kết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hợp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Antigravity IDE, GitHub, MCP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Tavily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&amp; Gemini AI.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5312664"/>
            <a:ext cx="7680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646920" y="5477256"/>
            <a:ext cx="621792" cy="62179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8440" y="5385816"/>
            <a:ext cx="6720840" cy="702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1" i="0" dirty="0" err="1">
                <a:solidFill>
                  <a:srgbClr val="002060"/>
                </a:solidFill>
                <a:latin typeface="Arial"/>
              </a:rPr>
              <a:t>Triển</a:t>
            </a:r>
            <a:r>
              <a:rPr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khai</a:t>
            </a:r>
            <a:r>
              <a:rPr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thực</a:t>
            </a:r>
            <a:r>
              <a:rPr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tế</a:t>
            </a:r>
            <a:r>
              <a:rPr b="1" i="0" dirty="0">
                <a:solidFill>
                  <a:srgbClr val="002060"/>
                </a:solidFill>
                <a:latin typeface="Arial"/>
              </a:rPr>
              <a:t>:
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Thử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nghiệm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tại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lớp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12A2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và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12A7 (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Tháng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10/2026).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60" y="6382512"/>
            <a:ext cx="7680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646920" y="6547104"/>
            <a:ext cx="621792" cy="62179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6455664"/>
            <a:ext cx="6720840" cy="702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1" i="0" dirty="0" err="1">
                <a:solidFill>
                  <a:srgbClr val="002060"/>
                </a:solidFill>
                <a:latin typeface="Arial"/>
              </a:rPr>
              <a:t>Kết</a:t>
            </a:r>
            <a:r>
              <a:rPr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quả</a:t>
            </a:r>
            <a:r>
              <a:rPr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và</a:t>
            </a:r>
            <a:r>
              <a:rPr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tác</a:t>
            </a:r>
            <a:r>
              <a:rPr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động</a:t>
            </a:r>
            <a:r>
              <a:rPr b="1" i="0" dirty="0">
                <a:solidFill>
                  <a:srgbClr val="002060"/>
                </a:solidFill>
                <a:latin typeface="Arial"/>
              </a:rPr>
              <a:t>:
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Cải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thiện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điểm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số</a:t>
            </a:r>
            <a:r>
              <a:rPr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hỗ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trợ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phân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tích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chuyên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đề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yếu</a:t>
            </a:r>
            <a:r>
              <a:rPr b="0" i="0" dirty="0">
                <a:solidFill>
                  <a:srgbClr val="262626"/>
                </a:solidFill>
                <a:latin typeface="Arial"/>
              </a:rPr>
              <a:t>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09760" y="7452360"/>
            <a:ext cx="7680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646920" y="7616952"/>
            <a:ext cx="621792" cy="62179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7525512"/>
            <a:ext cx="6720840" cy="702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1" i="0" dirty="0">
                <a:solidFill>
                  <a:srgbClr val="002060"/>
                </a:solidFill>
                <a:latin typeface="Arial"/>
              </a:rPr>
              <a:t>Thảo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luận</a:t>
            </a:r>
            <a:r>
              <a:rPr b="1" i="0" dirty="0">
                <a:solidFill>
                  <a:srgbClr val="002060"/>
                </a:solidFill>
                <a:latin typeface="Arial"/>
              </a:rPr>
              <a:t>,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tổng</a:t>
            </a:r>
            <a:r>
              <a:rPr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002060"/>
                </a:solidFill>
                <a:latin typeface="Arial"/>
              </a:rPr>
              <a:t>kết</a:t>
            </a:r>
            <a:r>
              <a:rPr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lang="vi-VN" b="1" dirty="0">
                <a:solidFill>
                  <a:srgbClr val="002060"/>
                </a:solidFill>
                <a:latin typeface="Arial"/>
              </a:rPr>
              <a:t>:</a:t>
            </a:r>
            <a:r>
              <a:rPr b="1" i="0" dirty="0">
                <a:solidFill>
                  <a:srgbClr val="002060"/>
                </a:solidFill>
                <a:latin typeface="Arial"/>
              </a:rPr>
              <a:t>
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Tính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bền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vững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(0đ chi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phí</a:t>
            </a:r>
            <a:r>
              <a:rPr b="0" i="0" dirty="0">
                <a:solidFill>
                  <a:srgbClr val="262626"/>
                </a:solidFill>
                <a:latin typeface="Arial"/>
              </a:rPr>
              <a:t>)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và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khả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năng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nhân</a:t>
            </a:r>
            <a:r>
              <a:rPr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Arial"/>
              </a:rPr>
              <a:t>rộng</a:t>
            </a:r>
            <a:r>
              <a:rPr b="0" i="0" dirty="0">
                <a:solidFill>
                  <a:srgbClr val="262626"/>
                </a:solidFill>
                <a:latin typeface="Arial"/>
              </a:rPr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B5D847-0D6D-2C9C-DB61-372316F179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83" y="1205657"/>
            <a:ext cx="6711696" cy="40195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Box 3"/>
          <p:cNvSpPr txBox="1"/>
          <p:nvPr/>
        </p:nvSpPr>
        <p:spPr>
          <a:xfrm>
            <a:off x="714375" y="293937"/>
            <a:ext cx="7606673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sz="4000" b="1" i="0">
                <a:solidFill>
                  <a:srgbClr val="002060"/>
                </a:solidFill>
                <a:latin typeface="Arial"/>
              </a:rPr>
              <a:t>BỐI CẢNH VÀ VẤN ĐỀ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4375" y="1393868"/>
            <a:ext cx="16868775" cy="701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endParaRPr/>
          </a:p>
          <a:p>
            <a:pPr lvl="0"/>
            <a:endParaRPr lang="vi-VN" sz="2800" dirty="0">
              <a:latin typeface="+mj-lt"/>
            </a:endParaRPr>
          </a:p>
          <a:p>
            <a:pPr lvl="0"/>
            <a:endParaRPr lang="en-US" sz="2800" dirty="0">
              <a:latin typeface="+mj-lt"/>
            </a:endParaRPr>
          </a:p>
          <a:p>
            <a:pPr lvl="0"/>
            <a:endParaRPr lang="en-US" sz="2800" dirty="0">
              <a:latin typeface="+mj-lt"/>
            </a:endParaRPr>
          </a:p>
          <a:p>
            <a:pPr lvl="0"/>
            <a:endParaRPr lang="en-US" sz="2800" dirty="0">
              <a:latin typeface="+mj-lt"/>
            </a:endParaRPr>
          </a:p>
          <a:p>
            <a:pPr marL="914400" lvl="1" indent="-457200">
              <a:buFontTx/>
              <a:buChar char="-"/>
            </a:pPr>
            <a:endParaRPr lang="en-US" sz="2800" dirty="0">
              <a:latin typeface="+mj-lt"/>
            </a:endParaRPr>
          </a:p>
          <a:p>
            <a:pPr algn="l">
              <a:lnSpc>
                <a:spcPts val="4661"/>
              </a:lnSpc>
            </a:pPr>
            <a:endParaRPr lang="en-US" sz="2800" dirty="0">
              <a:solidFill>
                <a:srgbClr val="000054"/>
              </a:solidFill>
              <a:latin typeface="+mj-lt"/>
              <a:ea typeface="Aptos"/>
              <a:cs typeface="Aptos"/>
              <a:sym typeface="Apto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0" y="8919749"/>
            <a:ext cx="18288000" cy="1367251"/>
          </a:xfrm>
          <a:custGeom>
            <a:avLst/>
            <a:gdLst/>
            <a:ahLst/>
            <a:cxnLst/>
            <a:rect l="l" t="t" r="r" b="b"/>
            <a:pathLst>
              <a:path w="18288000" h="1367251">
                <a:moveTo>
                  <a:pt x="0" y="0"/>
                </a:moveTo>
                <a:lnTo>
                  <a:pt x="18288000" y="0"/>
                </a:lnTo>
                <a:lnTo>
                  <a:pt x="18288000" y="1367251"/>
                </a:lnTo>
                <a:lnTo>
                  <a:pt x="0" y="1367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52385"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Rounded Rectangle 5"/>
          <p:cNvSpPr/>
          <p:nvPr/>
        </p:nvSpPr>
        <p:spPr>
          <a:xfrm>
            <a:off x="914400" y="1920239"/>
            <a:ext cx="7955279" cy="6772721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7955279" cy="5029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dirty="0"/>
              <a:t>1. THỰC TRẠNG </a:t>
            </a:r>
            <a:r>
              <a:rPr lang="vi-VN" dirty="0"/>
              <a:t>VÀ</a:t>
            </a:r>
            <a:r>
              <a:rPr dirty="0"/>
              <a:t> RÀO CẢN THỰC TẾ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7589520" cy="5562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1200"/>
              </a:spcAft>
            </a:pPr>
            <a:r>
              <a:rPr sz="1950" b="1" i="0" dirty="0">
                <a:solidFill>
                  <a:srgbClr val="0046A0"/>
                </a:solidFill>
                <a:latin typeface="Arial"/>
              </a:rPr>
              <a:t>•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Kỳ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thi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ĐGNL ĐHQGHN (HSA)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đặc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biệt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quan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trọng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: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Là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phương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thức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xét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tuyển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đại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hàng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đầu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của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sinh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khối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12 THPT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Chương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Mỹ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A.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Phần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Ngôn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ngữ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– Văn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chiếm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1/3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tổng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điểm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(50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câu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/60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phút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)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với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nhiều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ngữ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liệu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văn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bản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rất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dài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.</a:t>
            </a:r>
          </a:p>
          <a:p>
            <a:pPr algn="just">
              <a:lnSpc>
                <a:spcPct val="120000"/>
              </a:lnSpc>
              <a:spcAft>
                <a:spcPts val="1200"/>
              </a:spcAft>
            </a:pPr>
            <a:r>
              <a:rPr sz="1950" b="1" i="0" dirty="0">
                <a:solidFill>
                  <a:srgbClr val="0046A0"/>
                </a:solidFill>
                <a:latin typeface="Arial"/>
              </a:rPr>
              <a:t>•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Không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thuộc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chương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trình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dạy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chính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khóa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: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Thời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lượng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giảng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dạy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trên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lớp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phải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tập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trung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chương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trình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chuẩn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phổ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thông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;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giáo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viên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và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sinh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không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có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thời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lượng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ôn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luyện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chuyên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biệt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bắt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buộc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sinh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phải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tự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ngoài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giờ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.</a:t>
            </a:r>
          </a:p>
          <a:p>
            <a:pPr algn="just">
              <a:lnSpc>
                <a:spcPct val="120000"/>
              </a:lnSpc>
              <a:spcAft>
                <a:spcPts val="1200"/>
              </a:spcAft>
            </a:pPr>
            <a:r>
              <a:rPr sz="1950" b="1" i="0" dirty="0">
                <a:solidFill>
                  <a:srgbClr val="0046A0"/>
                </a:solidFill>
                <a:latin typeface="Arial"/>
              </a:rPr>
              <a:t>•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Thiếu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công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cụ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tự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học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định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hướng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: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Đề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giấy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hoặc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Google Forms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cuộn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trang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mỏi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mắt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với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nhóm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câu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hỏi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chùm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;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chỉ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có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đáp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án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trắc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nghiệm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A/B/C/D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mà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lang="vi-VN" sz="1950" b="0" i="0" dirty="0">
                <a:solidFill>
                  <a:srgbClr val="262626"/>
                </a:solidFill>
                <a:latin typeface="Arial"/>
              </a:rPr>
              <a:t>ít hoặc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không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có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lời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giải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thích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sâu</a:t>
            </a:r>
            <a:endParaRPr sz="1950" b="0" i="0" dirty="0">
              <a:solidFill>
                <a:srgbClr val="262626"/>
              </a:solidFill>
              <a:latin typeface="Arial"/>
            </a:endParaRPr>
          </a:p>
          <a:p>
            <a:pPr algn="just">
              <a:lnSpc>
                <a:spcPct val="120000"/>
              </a:lnSpc>
              <a:spcAft>
                <a:spcPts val="1200"/>
              </a:spcAft>
            </a:pPr>
            <a:r>
              <a:rPr sz="1950" b="1" i="0" dirty="0">
                <a:solidFill>
                  <a:srgbClr val="0046A0"/>
                </a:solidFill>
                <a:latin typeface="Arial"/>
              </a:rPr>
              <a:t>• 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Chi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phí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ôn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thi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đắt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đỏ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: 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Các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khóa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luyện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HSA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tại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các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trung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tâm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thường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phí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rất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cao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tạo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áp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lực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kinh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tế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nặng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nề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sinh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và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phụ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huynh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vực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ngoại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thành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920240"/>
            <a:ext cx="7955279" cy="649224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18320" y="1920240"/>
            <a:ext cx="7955279" cy="50292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600" dirty="0"/>
              <a:t>2. SỐ LIỆU KHẢO SÁT (LỚP 12A2 &amp; 12A7)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560320"/>
            <a:ext cx="7589520" cy="4915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50" b="1" i="0" dirty="0">
                <a:solidFill>
                  <a:srgbClr val="C00000"/>
                </a:solidFill>
                <a:latin typeface="Arial"/>
              </a:rPr>
              <a:t>• &gt; </a:t>
            </a:r>
            <a:r>
              <a:rPr lang="vi-VN" sz="1950" b="1" i="0" dirty="0">
                <a:solidFill>
                  <a:srgbClr val="C00000"/>
                </a:solidFill>
                <a:latin typeface="Arial"/>
              </a:rPr>
              <a:t>7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0% Học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sinh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có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nguyện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vọng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thi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HSA: 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Qua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khảo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sát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thực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tế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tại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2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lớp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12A2 &amp; 12A7, </a:t>
            </a:r>
            <a:r>
              <a:rPr lang="vi-VN" sz="1950" b="0" i="0" dirty="0">
                <a:solidFill>
                  <a:srgbClr val="262626"/>
                </a:solidFill>
                <a:latin typeface="Arial"/>
              </a:rPr>
              <a:t>hơn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lang="vi-VN" sz="1950" b="0" i="0" dirty="0">
                <a:solidFill>
                  <a:srgbClr val="262626"/>
                </a:solidFill>
                <a:latin typeface="Arial"/>
              </a:rPr>
              <a:t>7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0%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sinh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xác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định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HSA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là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mục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tiêu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xét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tuyển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đại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trọng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điểm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nhưng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lang="vi-VN" sz="1950" b="0" i="0" dirty="0">
                <a:solidFill>
                  <a:srgbClr val="262626"/>
                </a:solidFill>
                <a:latin typeface="Arial"/>
              </a:rPr>
              <a:t>lại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thiếu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liệu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chuẩn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50" b="1" i="0" dirty="0">
                <a:solidFill>
                  <a:srgbClr val="C00000"/>
                </a:solidFill>
                <a:latin typeface="Arial"/>
              </a:rPr>
              <a:t>• </a:t>
            </a:r>
            <a:r>
              <a:rPr lang="vi-VN" sz="1950" b="1" i="0" dirty="0">
                <a:solidFill>
                  <a:srgbClr val="C00000"/>
                </a:solidFill>
                <a:latin typeface="Arial"/>
              </a:rPr>
              <a:t>76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%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Gặp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khó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khăn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đọc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dài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&amp;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lặp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lại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lỗi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sai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: 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Học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sinh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rất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dễ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nản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lòng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gặp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các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văn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bản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hiểu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chùm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dài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;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thường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xuyên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lặp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lại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lỗi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sai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ở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phần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lang="vi-VN" sz="1950" b="0" i="0" dirty="0">
                <a:solidFill>
                  <a:srgbClr val="262626"/>
                </a:solidFill>
                <a:latin typeface="Arial"/>
              </a:rPr>
              <a:t>thi về Tiếng Việt, ngữ pháp 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do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không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có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người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giải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thích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tức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thì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ngoài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giờ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50" b="1" i="0" dirty="0">
                <a:solidFill>
                  <a:srgbClr val="C00000"/>
                </a:solidFill>
                <a:latin typeface="Arial"/>
              </a:rPr>
              <a:t>•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Rủi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ro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khi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tự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dùng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ChatGPT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ngoài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luồng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: 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Học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sinh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mất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nhiều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thời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gian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chụp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/copy-paste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đề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; ChatGPT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tự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do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dễ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bịa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đặt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kiến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thức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văn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(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ảo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giác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AI)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hoặc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làm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lộ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đáp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án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gây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tâm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lý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ỷ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lại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và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vẹt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.</a:t>
            </a:r>
            <a:r>
              <a:rPr lang="vi-VN" sz="1950" b="0" i="0" dirty="0">
                <a:solidFill>
                  <a:srgbClr val="262626"/>
                </a:solidFill>
                <a:latin typeface="Arial"/>
              </a:rPr>
              <a:t> Có học sinh nhờ ChatGPT tạo đề nhưng các đề thường độ chính xác không cao.</a:t>
            </a:r>
            <a:endParaRPr sz="1950" b="0" i="0" dirty="0">
              <a:solidFill>
                <a:srgbClr val="26262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4375" y="2027149"/>
            <a:ext cx="16868775" cy="8747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endParaRPr/>
          </a:p>
          <a:p>
            <a:pPr lvl="0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32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marL="653460" lvl="1" indent="-326730" algn="l">
              <a:lnSpc>
                <a:spcPts val="4661"/>
              </a:lnSpc>
              <a:buFont typeface="Arial"/>
              <a:buChar char="•"/>
            </a:pPr>
            <a:endParaRPr lang="en-US" sz="32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marL="898230" lvl="1" indent="-571500" algn="l">
              <a:lnSpc>
                <a:spcPts val="4661"/>
              </a:lnSpc>
              <a:buFontTx/>
              <a:buChar char="-"/>
            </a:pPr>
            <a:endParaRPr lang="en-US" sz="32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marL="898230" lvl="1" indent="-571500" algn="l">
              <a:lnSpc>
                <a:spcPts val="4661"/>
              </a:lnSpc>
              <a:buFontTx/>
              <a:buChar char="-"/>
            </a:pPr>
            <a:endParaRPr lang="en-US" sz="32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marL="898230" lvl="1" indent="-571500" algn="l">
              <a:lnSpc>
                <a:spcPts val="4661"/>
              </a:lnSpc>
              <a:buFontTx/>
              <a:buChar char="-"/>
            </a:pPr>
            <a:endParaRPr lang="en-US" sz="32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marL="898230" lvl="1" indent="-571500">
              <a:lnSpc>
                <a:spcPct val="100000"/>
              </a:lnSpc>
              <a:buFontTx/>
              <a:buChar char="-"/>
            </a:pPr>
            <a:endParaRPr lang="en-US" sz="32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marL="898230" lvl="1" indent="-571500">
              <a:lnSpc>
                <a:spcPts val="4661"/>
              </a:lnSpc>
              <a:buFontTx/>
              <a:buChar char="-"/>
            </a:pPr>
            <a:endParaRPr lang="en-US" sz="32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marL="898230" lvl="1" indent="-571500">
              <a:lnSpc>
                <a:spcPts val="4661"/>
              </a:lnSpc>
              <a:buFontTx/>
              <a:buChar char="-"/>
            </a:pPr>
            <a:endParaRPr lang="en-US" sz="32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marL="1306919" lvl="2" indent="-435640" algn="l">
              <a:lnSpc>
                <a:spcPts val="4661"/>
              </a:lnSpc>
              <a:buFont typeface="Arial"/>
              <a:buChar char="⚬"/>
            </a:pPr>
            <a:endParaRPr lang="en-US" sz="32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4661"/>
              </a:lnSpc>
            </a:pPr>
            <a:endParaRPr lang="en-US" sz="32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Box 4"/>
          <p:cNvSpPr txBox="1"/>
          <p:nvPr/>
        </p:nvSpPr>
        <p:spPr>
          <a:xfrm>
            <a:off x="714375" y="9505950"/>
            <a:ext cx="10426219" cy="32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54"/>
              </a:lnSpc>
            </a:pPr>
            <a:r>
              <a:rPr lang="en-US" sz="2600" b="1" spc="96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Diễn đàn Đổi mới sáng tạo Giáo dục Việt Nam với Trí tuệ nhân tạo 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8852107"/>
            <a:ext cx="18288000" cy="1434893"/>
          </a:xfrm>
          <a:custGeom>
            <a:avLst/>
            <a:gdLst/>
            <a:ahLst/>
            <a:cxnLst/>
            <a:rect l="l" t="t" r="r" b="b"/>
            <a:pathLst>
              <a:path w="18288000" h="1434893">
                <a:moveTo>
                  <a:pt x="0" y="0"/>
                </a:moveTo>
                <a:lnTo>
                  <a:pt x="18288000" y="0"/>
                </a:lnTo>
                <a:lnTo>
                  <a:pt x="18288000" y="1434893"/>
                </a:lnTo>
                <a:lnTo>
                  <a:pt x="0" y="1434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16917"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TextBox 6"/>
          <p:cNvSpPr txBox="1"/>
          <p:nvPr/>
        </p:nvSpPr>
        <p:spPr>
          <a:xfrm>
            <a:off x="882811" y="1005632"/>
            <a:ext cx="16459200" cy="76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sz="3400" b="1" i="0" dirty="0">
                <a:solidFill>
                  <a:srgbClr val="002060"/>
                </a:solidFill>
                <a:latin typeface="Arial"/>
              </a:rPr>
              <a:t>Ý TƯỞNG VÀ GIẢI PHÁP: MÔ HÌNH "AI CÓ TRÁCH NHIỆM"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6459200" cy="1280160"/>
          </a:xfrm>
          <a:prstGeom prst="roundRect">
            <a:avLst/>
          </a:prstGeom>
          <a:solidFill>
            <a:srgbClr val="F0F6FF"/>
          </a:solidFill>
          <a:ln w="19050">
            <a:solidFill>
              <a:srgbClr val="00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874519"/>
            <a:ext cx="16093440" cy="1273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vi-VN" sz="2200" b="1" i="0" dirty="0">
                <a:solidFill>
                  <a:srgbClr val="002060"/>
                </a:solidFill>
                <a:latin typeface="Arial"/>
              </a:rPr>
              <a:t>Giải pháp đột phá: </a:t>
            </a:r>
            <a:r>
              <a:rPr lang="vi-VN" sz="2200" b="0" i="0" dirty="0">
                <a:solidFill>
                  <a:srgbClr val="262626"/>
                </a:solidFill>
                <a:latin typeface="Arial"/>
              </a:rPr>
              <a:t>Xây dựng Web App chuyên biệt "HSA Master AI (Phần tư duy Định tính – Văn học và ngôn ngữ)" giải quyết toàn diện bài toán tự học Ngữ Văn hỗ trợ học sinh ôn thi HSA</a:t>
            </a:r>
          </a:p>
          <a:p>
            <a:pPr>
              <a:lnSpc>
                <a:spcPct val="120000"/>
              </a:lnSpc>
            </a:pPr>
            <a:r>
              <a:rPr lang="vi-VN" sz="2200" b="1" i="0" dirty="0">
                <a:solidFill>
                  <a:srgbClr val="C00000"/>
                </a:solidFill>
                <a:latin typeface="Arial"/>
              </a:rPr>
              <a:t>Công cụ &amp; Nền tảng: </a:t>
            </a:r>
            <a:r>
              <a:rPr lang="vi-VN" sz="2200" b="0" i="0" dirty="0">
                <a:solidFill>
                  <a:srgbClr val="262626"/>
                </a:solidFill>
                <a:latin typeface="Arial"/>
              </a:rPr>
              <a:t>Google Antigravity IDE (Agentic AI), GitHub &amp; GitHub Pages, MCP Tavily Search và Gemini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91840"/>
            <a:ext cx="8046720" cy="512064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3291840"/>
            <a:ext cx="8046720" cy="5029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600" dirty="0"/>
              <a:t>GIÁ TRỊ VƯỢT TRỘI SO VỚI TRUYỀN THỐNG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7680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50" b="1" i="0" dirty="0">
                <a:solidFill>
                  <a:srgbClr val="0046A0"/>
                </a:solidFill>
                <a:latin typeface="Arial"/>
              </a:rPr>
              <a:t>• 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Kho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đề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trộn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tự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động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chuẩn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ma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trận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ĐHQGHN: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Hệ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thống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tự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động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bốc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tách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phân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loại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câu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hỏi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theo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4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mức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độ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nhận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thức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(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Nhận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biết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– Thông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hiểu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–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Vận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dụng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–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Vận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dụng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cao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),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tạo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đề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phong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phú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không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trùng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lặp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50" b="1" i="0" dirty="0">
                <a:solidFill>
                  <a:srgbClr val="0046A0"/>
                </a:solidFill>
                <a:latin typeface="Arial"/>
              </a:rPr>
              <a:t>• 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Giao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diện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lang="vi-VN" sz="1950" b="1" i="0" dirty="0">
                <a:solidFill>
                  <a:srgbClr val="002060"/>
                </a:solidFill>
                <a:latin typeface="Arial"/>
              </a:rPr>
              <a:t>c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hia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đôi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màn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hình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(Split-Screen):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Ngữ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liệu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bài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dài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được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cố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định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bên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trái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nhóm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câu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hỏi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chùm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hiển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thị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bên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phải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. Học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sinh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dễ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dàng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đối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chiếu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trực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tiếp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khắc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phục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hoàn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toàn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nhược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điểm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cuộn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trang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mỏi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mắt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của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Google Forms.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50" b="1" i="0" dirty="0">
                <a:solidFill>
                  <a:srgbClr val="0046A0"/>
                </a:solidFill>
                <a:latin typeface="Arial"/>
              </a:rPr>
              <a:t>• 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Gia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sư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lang="vi-VN" sz="1950" b="1" i="0" dirty="0">
                <a:solidFill>
                  <a:srgbClr val="002060"/>
                </a:solidFill>
                <a:latin typeface="Arial"/>
              </a:rPr>
              <a:t>AI: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Tự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động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nạp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sẵn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ngữ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cảnh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văn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bản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và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câu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hỏi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sai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để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phân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tích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cặn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kẽ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1-1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ngay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sau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nộp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bài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giúp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sinh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sửa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lỗi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sai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lập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tức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mà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không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cần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chờ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giáo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viên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3291840"/>
            <a:ext cx="8046720" cy="512064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326880" y="3291840"/>
            <a:ext cx="8046720" cy="50292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lang="vi-VN" sz="1600" dirty="0"/>
              <a:t>SỬ DỤNG TRÍ TUỆ </a:t>
            </a:r>
            <a:r>
              <a:rPr sz="1600" dirty="0"/>
              <a:t>NHÂN TẠO CÓ TRÁCH NHIỆM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3931920"/>
            <a:ext cx="7680960" cy="4276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50" b="1" i="0" dirty="0">
                <a:solidFill>
                  <a:srgbClr val="C00000"/>
                </a:solidFill>
                <a:latin typeface="Arial"/>
              </a:rPr>
              <a:t>•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Chống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AI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bịa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đặt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kiến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lang="vi-VN" sz="1950" b="1" i="0" dirty="0">
                <a:solidFill>
                  <a:srgbClr val="C00000"/>
                </a:solidFill>
                <a:latin typeface="Arial"/>
              </a:rPr>
              <a:t>thức: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Sử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dụng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lang="vi-VN" sz="1950" b="0" i="0" dirty="0">
                <a:solidFill>
                  <a:srgbClr val="262626"/>
                </a:solidFill>
                <a:latin typeface="Arial"/>
              </a:rPr>
              <a:t>nguồn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đề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lang="vi-VN" sz="1950" b="0" i="0" dirty="0">
                <a:solidFill>
                  <a:srgbClr val="262626"/>
                </a:solidFill>
                <a:latin typeface="Arial"/>
              </a:rPr>
              <a:t>đã được thẩm định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. AI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đóng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vai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trò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tra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cứu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và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giải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bổ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sung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các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câu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khuyết</a:t>
            </a:r>
            <a:r>
              <a:rPr lang="vi-VN" sz="1950" b="0" i="0" dirty="0">
                <a:solidFill>
                  <a:srgbClr val="262626"/>
                </a:solidFill>
                <a:latin typeface="Arial"/>
              </a:rPr>
              <a:t> đáp án hoặc chưa đúng ma trận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dưới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sự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kiểm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duyệt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chặt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chẽ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của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giáo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viên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trước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lang="vi-VN" sz="1950" b="0" i="0" dirty="0">
                <a:solidFill>
                  <a:srgbClr val="262626"/>
                </a:solidFill>
                <a:latin typeface="Arial"/>
              </a:rPr>
              <a:t>tạo web app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50" b="1" i="0" dirty="0">
                <a:solidFill>
                  <a:srgbClr val="C00000"/>
                </a:solidFill>
                <a:latin typeface="Arial"/>
              </a:rPr>
              <a:t>•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Chống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gian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lận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học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thuật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: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Tự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động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khóa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hoàn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toàn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Gia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sư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AI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trong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suốt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60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phút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sinh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làm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bài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thử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bấm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giờ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;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chỉ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mở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khóa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sinh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luyện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tập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chuyên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đề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tự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do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hoặc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sau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đã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nộp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bài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để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xem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phân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tích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50" b="1" i="0" dirty="0">
                <a:solidFill>
                  <a:srgbClr val="C00000"/>
                </a:solidFill>
                <a:latin typeface="Arial"/>
              </a:rPr>
              <a:t>•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Khuyến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khích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tư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duy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phản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biện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: 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AI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không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chỉ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đưa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ra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đáp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án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đúng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mà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tập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trung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giải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thích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bản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chất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câu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sai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giúp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sinh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phát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triển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năng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lực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tự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và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tư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duy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ngôn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ngữ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sâu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sắc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1D360-05FE-5D49-5398-BA8B01BE0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BB36E31-79DB-44B0-15A4-C2FCC3A34993}"/>
              </a:ext>
            </a:extLst>
          </p:cNvPr>
          <p:cNvSpPr txBox="1"/>
          <p:nvPr/>
        </p:nvSpPr>
        <p:spPr>
          <a:xfrm>
            <a:off x="714375" y="2027149"/>
            <a:ext cx="16868775" cy="8747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endParaRPr/>
          </a:p>
          <a:p>
            <a:pPr lvl="0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32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marL="653460" lvl="1" indent="-326730" algn="l">
              <a:lnSpc>
                <a:spcPts val="4661"/>
              </a:lnSpc>
              <a:buFont typeface="Arial"/>
              <a:buChar char="•"/>
            </a:pPr>
            <a:endParaRPr lang="en-US" sz="32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marL="898230" lvl="1" indent="-571500" algn="l">
              <a:lnSpc>
                <a:spcPts val="4661"/>
              </a:lnSpc>
              <a:buFontTx/>
              <a:buChar char="-"/>
            </a:pPr>
            <a:endParaRPr lang="en-US" sz="32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marL="898230" lvl="1" indent="-571500" algn="l">
              <a:lnSpc>
                <a:spcPts val="4661"/>
              </a:lnSpc>
              <a:buFontTx/>
              <a:buChar char="-"/>
            </a:pPr>
            <a:endParaRPr lang="en-US" sz="32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marL="898230" lvl="1" indent="-571500" algn="l">
              <a:lnSpc>
                <a:spcPts val="4661"/>
              </a:lnSpc>
              <a:buFontTx/>
              <a:buChar char="-"/>
            </a:pPr>
            <a:endParaRPr lang="en-US" sz="32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marL="898230" lvl="1" indent="-571500">
              <a:lnSpc>
                <a:spcPct val="100000"/>
              </a:lnSpc>
              <a:buFontTx/>
              <a:buChar char="-"/>
            </a:pPr>
            <a:endParaRPr lang="en-US" sz="32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marL="898230" lvl="1" indent="-571500">
              <a:lnSpc>
                <a:spcPts val="4661"/>
              </a:lnSpc>
              <a:buFontTx/>
              <a:buChar char="-"/>
            </a:pPr>
            <a:endParaRPr lang="en-US" sz="32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marL="898230" lvl="1" indent="-571500">
              <a:lnSpc>
                <a:spcPts val="4661"/>
              </a:lnSpc>
              <a:buFontTx/>
              <a:buChar char="-"/>
            </a:pPr>
            <a:endParaRPr lang="en-US" sz="32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marL="1306919" lvl="2" indent="-435640" algn="l">
              <a:lnSpc>
                <a:spcPts val="4661"/>
              </a:lnSpc>
              <a:buFont typeface="Arial"/>
              <a:buChar char="⚬"/>
            </a:pPr>
            <a:endParaRPr lang="en-US" sz="32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4661"/>
              </a:lnSpc>
            </a:pPr>
            <a:endParaRPr lang="en-US" sz="32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A589963-F251-CCF7-7705-22F5186BDC83}"/>
              </a:ext>
            </a:extLst>
          </p:cNvPr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470A145-291B-0792-3004-7E46225A4B4A}"/>
              </a:ext>
            </a:extLst>
          </p:cNvPr>
          <p:cNvSpPr txBox="1"/>
          <p:nvPr/>
        </p:nvSpPr>
        <p:spPr>
          <a:xfrm>
            <a:off x="714375" y="9505950"/>
            <a:ext cx="10426219" cy="32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54"/>
              </a:lnSpc>
            </a:pPr>
            <a:r>
              <a:rPr lang="en-US" sz="2600" b="1" spc="96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Diễn đàn Đổi mới sáng tạo Giáo dục Việt Nam với Trí tuệ nhân tạo 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8EE1869-B859-3E04-3047-382B73D46416}"/>
              </a:ext>
            </a:extLst>
          </p:cNvPr>
          <p:cNvSpPr/>
          <p:nvPr/>
        </p:nvSpPr>
        <p:spPr>
          <a:xfrm>
            <a:off x="0" y="8852107"/>
            <a:ext cx="18288000" cy="1434893"/>
          </a:xfrm>
          <a:custGeom>
            <a:avLst/>
            <a:gdLst/>
            <a:ahLst/>
            <a:cxnLst/>
            <a:rect l="l" t="t" r="r" b="b"/>
            <a:pathLst>
              <a:path w="18288000" h="1434893">
                <a:moveTo>
                  <a:pt x="0" y="0"/>
                </a:moveTo>
                <a:lnTo>
                  <a:pt x="18288000" y="0"/>
                </a:lnTo>
                <a:lnTo>
                  <a:pt x="18288000" y="1434893"/>
                </a:lnTo>
                <a:lnTo>
                  <a:pt x="0" y="1434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16917"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0BD4498-4CEA-A42A-DCE8-9D3A70DBA726}"/>
              </a:ext>
            </a:extLst>
          </p:cNvPr>
          <p:cNvSpPr txBox="1"/>
          <p:nvPr/>
        </p:nvSpPr>
        <p:spPr>
          <a:xfrm>
            <a:off x="882811" y="1005632"/>
            <a:ext cx="16459200" cy="76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sz="3400" b="1" i="0" dirty="0">
                <a:solidFill>
                  <a:srgbClr val="002060"/>
                </a:solidFill>
                <a:latin typeface="Arial"/>
              </a:rPr>
              <a:t>Ý TƯỞNG VÀ GIẢI PHÁP: MÔ HÌNH "AI CÓ TRÁCH NHIỆM"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B824DED-FCFC-1FC5-32B1-DEC34D3C7113}"/>
              </a:ext>
            </a:extLst>
          </p:cNvPr>
          <p:cNvSpPr/>
          <p:nvPr/>
        </p:nvSpPr>
        <p:spPr>
          <a:xfrm>
            <a:off x="882811" y="2353528"/>
            <a:ext cx="8046720" cy="512064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296BE47-C0BD-D692-4555-7FDD316C0E25}"/>
              </a:ext>
            </a:extLst>
          </p:cNvPr>
          <p:cNvSpPr/>
          <p:nvPr/>
        </p:nvSpPr>
        <p:spPr>
          <a:xfrm>
            <a:off x="882811" y="2353528"/>
            <a:ext cx="8046720" cy="5029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lang="vi-VN" sz="1600" dirty="0">
                <a:solidFill>
                  <a:schemeClr val="bg1"/>
                </a:solidFill>
                <a:latin typeface="Arial"/>
              </a:rPr>
              <a:t>Google Antigravity IDE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ED32BA3-55C3-0AE9-30F2-2EDA8A819D27}"/>
              </a:ext>
            </a:extLst>
          </p:cNvPr>
          <p:cNvSpPr/>
          <p:nvPr/>
        </p:nvSpPr>
        <p:spPr>
          <a:xfrm>
            <a:off x="9295291" y="2353528"/>
            <a:ext cx="8046720" cy="512064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DC1B9BE-34EC-D3B4-F1D4-135A2A9071F4}"/>
              </a:ext>
            </a:extLst>
          </p:cNvPr>
          <p:cNvSpPr/>
          <p:nvPr/>
        </p:nvSpPr>
        <p:spPr>
          <a:xfrm>
            <a:off x="9295291" y="2353528"/>
            <a:ext cx="8046720" cy="50292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lang="vi-VN" sz="1600" dirty="0">
                <a:solidFill>
                  <a:schemeClr val="bg1"/>
                </a:solidFill>
                <a:latin typeface="Arial"/>
              </a:rPr>
              <a:t>GitHub &amp; GitHub Pages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9F1F40-EE2A-E4C4-0FA3-DDEED6B77A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11" y="2794536"/>
            <a:ext cx="8021319" cy="472535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58A14A8-9792-DC48-A289-E263B0FBC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3068" y="2869148"/>
            <a:ext cx="8046721" cy="465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70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38236-EF89-4CDE-7290-E55326EEF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C6F2D5D-A6B3-9DA6-6444-33F41E02D578}"/>
              </a:ext>
            </a:extLst>
          </p:cNvPr>
          <p:cNvSpPr txBox="1"/>
          <p:nvPr/>
        </p:nvSpPr>
        <p:spPr>
          <a:xfrm>
            <a:off x="714375" y="2027149"/>
            <a:ext cx="16868775" cy="676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endParaRPr lang="vi-VN" sz="3600" dirty="0"/>
          </a:p>
          <a:p>
            <a:pPr lvl="0"/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3600" dirty="0"/>
          </a:p>
          <a:p>
            <a:pPr lvl="1"/>
            <a:endParaRPr lang="en-US" sz="48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marL="653460" lvl="1" indent="-326730" algn="l">
              <a:lnSpc>
                <a:spcPts val="4661"/>
              </a:lnSpc>
              <a:buFont typeface="Arial"/>
              <a:buChar char="•"/>
            </a:pPr>
            <a:endParaRPr lang="en-US" sz="48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4661"/>
              </a:lnSpc>
            </a:pPr>
            <a:endParaRPr lang="en-US" sz="480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5D2C8EC-4506-87AB-7C94-9D8DD542C7AB}"/>
              </a:ext>
            </a:extLst>
          </p:cNvPr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E596855-A016-013A-0AC1-22BB5AB27C0E}"/>
              </a:ext>
            </a:extLst>
          </p:cNvPr>
          <p:cNvSpPr txBox="1"/>
          <p:nvPr/>
        </p:nvSpPr>
        <p:spPr>
          <a:xfrm>
            <a:off x="714375" y="9505950"/>
            <a:ext cx="10426219" cy="32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54"/>
              </a:lnSpc>
            </a:pPr>
            <a:r>
              <a:rPr lang="en-US" sz="2600" b="1" spc="96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Diễn đàn Đổi mới sáng tạo Giáo dục Việt Nam với Trí tuệ nhân tạo 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26B23EF-02D4-ADE4-5376-DD5AC958F82A}"/>
              </a:ext>
            </a:extLst>
          </p:cNvPr>
          <p:cNvSpPr/>
          <p:nvPr/>
        </p:nvSpPr>
        <p:spPr>
          <a:xfrm>
            <a:off x="0" y="8852107"/>
            <a:ext cx="18288000" cy="1434893"/>
          </a:xfrm>
          <a:custGeom>
            <a:avLst/>
            <a:gdLst/>
            <a:ahLst/>
            <a:cxnLst/>
            <a:rect l="l" t="t" r="r" b="b"/>
            <a:pathLst>
              <a:path w="18288000" h="1434893">
                <a:moveTo>
                  <a:pt x="0" y="0"/>
                </a:moveTo>
                <a:lnTo>
                  <a:pt x="18288000" y="0"/>
                </a:lnTo>
                <a:lnTo>
                  <a:pt x="18288000" y="1434893"/>
                </a:lnTo>
                <a:lnTo>
                  <a:pt x="0" y="1434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16917"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07C9B2E-9B3E-04E2-3572-6D9917BBB248}"/>
              </a:ext>
            </a:extLst>
          </p:cNvPr>
          <p:cNvSpPr txBox="1"/>
          <p:nvPr/>
        </p:nvSpPr>
        <p:spPr>
          <a:xfrm>
            <a:off x="882811" y="1005632"/>
            <a:ext cx="16459200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sz="3600" b="1" i="0">
                <a:solidFill>
                  <a:srgbClr val="002060"/>
                </a:solidFill>
                <a:latin typeface="Arial"/>
              </a:rPr>
              <a:t>QUY TRÌNH THỰC HIỆN DỰ ÁN (5 BƯỚC CHUẨN HÓA)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16459200" cy="118872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97280" y="2103120"/>
            <a:ext cx="1645920" cy="82296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28600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Arial"/>
              </a:rPr>
              <a:t>BƯỚC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029968"/>
            <a:ext cx="14173200" cy="1124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950" b="1" i="0" dirty="0" err="1">
                <a:solidFill>
                  <a:srgbClr val="002060"/>
                </a:solidFill>
                <a:latin typeface="Arial"/>
              </a:rPr>
              <a:t>Chuẩn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bị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ngân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hàng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học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liệu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chuẩn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ma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trận</a:t>
            </a:r>
            <a:endParaRPr sz="1950" b="1" i="0" dirty="0">
              <a:solidFill>
                <a:srgbClr val="00206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sz="1950" b="0" i="0" dirty="0" err="1">
                <a:solidFill>
                  <a:srgbClr val="262626"/>
                </a:solidFill>
                <a:latin typeface="Arial"/>
              </a:rPr>
              <a:t>Xây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dựng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hệ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thống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câu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hỏi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theo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đúng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ma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trận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cấu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trúc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đề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mẫu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HSA </a:t>
            </a:r>
            <a:r>
              <a:rPr lang="vi-VN" sz="1950" dirty="0">
                <a:solidFill>
                  <a:srgbClr val="262626"/>
                </a:solidFill>
                <a:latin typeface="Arial"/>
              </a:rPr>
              <a:t> (phần tư duy định tính – Văn học và ngôn ngữ)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của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ĐHQG Hà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Nội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(50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câu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/60 </a:t>
            </a:r>
            <a:r>
              <a:rPr lang="vi-VN" sz="1950" b="0" i="0" dirty="0">
                <a:solidFill>
                  <a:srgbClr val="262626"/>
                </a:solidFill>
                <a:latin typeface="Arial"/>
              </a:rPr>
              <a:t>phút)</a:t>
            </a:r>
            <a:endParaRPr sz="195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4400" y="3273552"/>
            <a:ext cx="16459200" cy="118872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97280" y="3456432"/>
            <a:ext cx="1645920" cy="822960"/>
          </a:xfrm>
          <a:prstGeom prst="roundRect">
            <a:avLst/>
          </a:prstGeom>
          <a:solidFill>
            <a:srgbClr val="00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28600" rtlCol="0" anchor="ctr"/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rial"/>
              </a:rPr>
              <a:t>BƯỚC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383280"/>
            <a:ext cx="14173200" cy="1124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950" b="1" i="0" dirty="0" err="1">
                <a:solidFill>
                  <a:srgbClr val="002060"/>
                </a:solidFill>
                <a:latin typeface="Arial"/>
              </a:rPr>
              <a:t>Số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lang="vi-VN" sz="1950" b="1" i="0" dirty="0">
                <a:solidFill>
                  <a:srgbClr val="002060"/>
                </a:solidFill>
                <a:latin typeface="Arial"/>
              </a:rPr>
              <a:t>hóa, p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hân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tách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câu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hỏi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với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Antigravity + MCP</a:t>
            </a:r>
            <a:r>
              <a:rPr lang="vi-VN" sz="1950" b="1" i="0" dirty="0">
                <a:solidFill>
                  <a:srgbClr val="002060"/>
                </a:solidFill>
                <a:latin typeface="Arial"/>
              </a:rPr>
              <a:t> Tavily</a:t>
            </a:r>
            <a:endParaRPr sz="1950" b="1" i="0" dirty="0">
              <a:solidFill>
                <a:srgbClr val="00206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sz="1950" b="0" i="0" dirty="0" err="1">
                <a:solidFill>
                  <a:srgbClr val="262626"/>
                </a:solidFill>
                <a:latin typeface="Arial"/>
              </a:rPr>
              <a:t>Sử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dụng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Antigravity IDE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dữ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liệu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thô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tách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câu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đơn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và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nhóm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câu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chùm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;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kết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hợp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MCP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Tavily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tra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cứu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tài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liệu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và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giải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bổ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sung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các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câu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khuyết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đáp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án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(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có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giáo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viên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thẩm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định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26864"/>
            <a:ext cx="16459200" cy="118872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97280" y="4809744"/>
            <a:ext cx="1645920" cy="82296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28600" rtlCol="0" anchor="ctr"/>
          <a:lstStyle/>
          <a:p>
            <a:pPr algn="ctr"/>
            <a:r>
              <a:rPr b="1" i="0">
                <a:solidFill>
                  <a:srgbClr val="FFFFFF"/>
                </a:solidFill>
                <a:latin typeface="Arial"/>
              </a:rPr>
              <a:t>BƯỚC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736592"/>
            <a:ext cx="14173200" cy="1124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950" b="1" i="0" dirty="0" err="1">
                <a:solidFill>
                  <a:srgbClr val="002060"/>
                </a:solidFill>
                <a:latin typeface="Arial"/>
              </a:rPr>
              <a:t>Lập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trình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lang="vi-VN" sz="1950" b="1" dirty="0">
                <a:solidFill>
                  <a:srgbClr val="002060"/>
                </a:solidFill>
                <a:latin typeface="Arial"/>
              </a:rPr>
              <a:t>và p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hát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triển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Web App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tương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tác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cao</a:t>
            </a:r>
            <a:endParaRPr sz="1950" b="1" i="0" dirty="0">
              <a:solidFill>
                <a:srgbClr val="00206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sz="1950" b="0" i="0" dirty="0" err="1">
                <a:solidFill>
                  <a:srgbClr val="262626"/>
                </a:solidFill>
                <a:latin typeface="Arial"/>
              </a:rPr>
              <a:t>Lập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trình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thuật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toán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trộn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đề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ngẫu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nhiên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50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câu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/60p,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thiết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kế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giao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diện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Split-Screen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tối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ưu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bài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dài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tích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hợp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Bảng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vinh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danh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và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lang="vi-VN" sz="1950" dirty="0">
                <a:solidFill>
                  <a:srgbClr val="262626"/>
                </a:solidFill>
                <a:latin typeface="Arial"/>
              </a:rPr>
              <a:t>gia sư ảo và thống kê chi tiết</a:t>
            </a:r>
            <a:endParaRPr sz="195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4400" y="5980176"/>
            <a:ext cx="16459200" cy="118872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97280" y="6163056"/>
            <a:ext cx="1645920" cy="822960"/>
          </a:xfrm>
          <a:prstGeom prst="roundRect">
            <a:avLst/>
          </a:prstGeom>
          <a:solidFill>
            <a:srgbClr val="B4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28600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Arial"/>
              </a:rPr>
              <a:t>BƯỚC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6089904"/>
            <a:ext cx="14173200" cy="753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950" b="1" i="0" dirty="0" err="1">
                <a:solidFill>
                  <a:srgbClr val="002060"/>
                </a:solidFill>
                <a:latin typeface="Arial"/>
              </a:rPr>
              <a:t>Đóng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gói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lang="vi-VN" sz="1950" b="1" dirty="0">
                <a:solidFill>
                  <a:srgbClr val="002060"/>
                </a:solidFill>
                <a:latin typeface="Arial"/>
              </a:rPr>
              <a:t>và x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uất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bản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lang="vi-VN" sz="1950" b="1" i="0" dirty="0">
                <a:solidFill>
                  <a:srgbClr val="002060"/>
                </a:solidFill>
                <a:latin typeface="Arial"/>
              </a:rPr>
              <a:t>: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Đóng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gói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toàn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bộ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mã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nguồn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tĩnh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và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lang="vi-VN" sz="1950" b="0" i="0" dirty="0">
                <a:solidFill>
                  <a:srgbClr val="262626"/>
                </a:solidFill>
                <a:latin typeface="Arial"/>
              </a:rPr>
              <a:t>gửi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lên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GitHub Pages </a:t>
            </a:r>
            <a:r>
              <a:rPr lang="vi-VN" sz="1950" dirty="0">
                <a:solidFill>
                  <a:srgbClr val="262626"/>
                </a:solidFill>
                <a:latin typeface="Arial"/>
              </a:rPr>
              <a:t>hoặc 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N</a:t>
            </a:r>
            <a:r>
              <a:rPr lang="en-US" sz="1950" b="0" i="0" dirty="0">
                <a:solidFill>
                  <a:srgbClr val="262626"/>
                </a:solidFill>
                <a:latin typeface="Arial"/>
              </a:rPr>
              <a:t>etlify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đảm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bảo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hệ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thống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vận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hành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liên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tục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24/7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với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chi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phí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máy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chủ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0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đồng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7333488"/>
            <a:ext cx="16459200" cy="118872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97280" y="7516368"/>
            <a:ext cx="1645920" cy="82296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28600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Arial"/>
              </a:rPr>
              <a:t>BƯỚC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7443216"/>
            <a:ext cx="14173200" cy="1098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950" b="1" i="0" dirty="0" err="1">
                <a:solidFill>
                  <a:srgbClr val="002060"/>
                </a:solidFill>
                <a:latin typeface="Arial"/>
              </a:rPr>
              <a:t>Tích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hợp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lang="vi-VN" sz="1950" b="1" i="0" dirty="0">
                <a:solidFill>
                  <a:srgbClr val="002060"/>
                </a:solidFill>
                <a:latin typeface="Arial"/>
              </a:rPr>
              <a:t>cài App và </a:t>
            </a:r>
            <a:r>
              <a:rPr lang="vi-VN" sz="1950" b="1" dirty="0">
                <a:solidFill>
                  <a:srgbClr val="002060"/>
                </a:solidFill>
                <a:latin typeface="Arial"/>
              </a:rPr>
              <a:t>m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ã QR </a:t>
            </a:r>
            <a:r>
              <a:rPr lang="vi-VN" sz="1950" b="1" i="0" dirty="0">
                <a:solidFill>
                  <a:srgbClr val="002060"/>
                </a:solidFill>
                <a:latin typeface="Arial"/>
              </a:rPr>
              <a:t>để truy cập thuận tiện: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Tạo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mã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QR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truy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cập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nhanh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điện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thoại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hỗ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trợ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cài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đặt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ứng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dụng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Web (PWA)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và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tích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hợp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trang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Dashboard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phân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tích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điểm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mạnh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/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yếu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của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sinh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.</a:t>
            </a:r>
            <a:r>
              <a:rPr lang="vi-VN" sz="1950" b="0" i="0" dirty="0">
                <a:solidFill>
                  <a:srgbClr val="262626"/>
                </a:solidFill>
                <a:latin typeface="Arial"/>
              </a:rPr>
              <a:t> Học sinh có thể tải app về điện thoại một cách dễ dàng</a:t>
            </a:r>
            <a:endParaRPr sz="1950" b="0" i="0" dirty="0">
              <a:solidFill>
                <a:srgbClr val="26262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92965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2811" y="1005632"/>
            <a:ext cx="16459200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sz="3600" b="1" i="0">
                <a:solidFill>
                  <a:srgbClr val="002060"/>
                </a:solidFill>
                <a:latin typeface="Arial"/>
              </a:rPr>
              <a:t>TRIỂN KHAI THỰC TẾ TẠI TRƯỜNG THPT CHƯƠNG MỸ 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4375" y="2027149"/>
            <a:ext cx="16868775" cy="262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endParaRPr sz="1950"/>
          </a:p>
          <a:p>
            <a:pPr lvl="0"/>
            <a:endParaRPr lang="en-US" sz="1950" dirty="0"/>
          </a:p>
          <a:p>
            <a:pPr lvl="1"/>
            <a:endParaRPr lang="en-US" sz="1950" dirty="0"/>
          </a:p>
          <a:p>
            <a:pPr lvl="1"/>
            <a:endParaRPr lang="en-US" sz="1950" dirty="0"/>
          </a:p>
          <a:p>
            <a:pPr lvl="1"/>
            <a:endParaRPr lang="en-US" sz="1950" dirty="0"/>
          </a:p>
          <a:p>
            <a:pPr marL="1306919" lvl="2" indent="-435640" algn="l">
              <a:lnSpc>
                <a:spcPts val="4661"/>
              </a:lnSpc>
              <a:buFont typeface="Arial"/>
              <a:buChar char="⚬"/>
            </a:pPr>
            <a:endParaRPr lang="en-US" sz="1950" dirty="0"/>
          </a:p>
          <a:p>
            <a:pPr marL="1306919" lvl="2" indent="-435640" algn="l">
              <a:lnSpc>
                <a:spcPts val="4661"/>
              </a:lnSpc>
              <a:buFont typeface="Arial"/>
              <a:buChar char="⚬"/>
            </a:pPr>
            <a:endParaRPr lang="en-US" sz="1950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Box 5"/>
          <p:cNvSpPr txBox="1"/>
          <p:nvPr/>
        </p:nvSpPr>
        <p:spPr>
          <a:xfrm>
            <a:off x="714375" y="9505950"/>
            <a:ext cx="10426219" cy="32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54"/>
              </a:lnSpc>
            </a:pPr>
            <a:r>
              <a:rPr lang="en-US" sz="2600" b="1" spc="96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Diễn đàn Đổi mới sáng tạo Giáo dục Việt Nam với Trí tuệ nhân tạo 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8852107"/>
            <a:ext cx="18288000" cy="1434893"/>
          </a:xfrm>
          <a:custGeom>
            <a:avLst/>
            <a:gdLst/>
            <a:ahLst/>
            <a:cxnLst/>
            <a:rect l="l" t="t" r="r" b="b"/>
            <a:pathLst>
              <a:path w="18288000" h="1434893">
                <a:moveTo>
                  <a:pt x="0" y="0"/>
                </a:moveTo>
                <a:lnTo>
                  <a:pt x="18288000" y="0"/>
                </a:lnTo>
                <a:lnTo>
                  <a:pt x="18288000" y="1434893"/>
                </a:lnTo>
                <a:lnTo>
                  <a:pt x="0" y="1434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16917"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16459200" cy="1371600"/>
          </a:xfrm>
          <a:prstGeom prst="roundRect">
            <a:avLst/>
          </a:prstGeom>
          <a:solidFill>
            <a:srgbClr val="F0F6FF"/>
          </a:solidFill>
          <a:ln w="19050">
            <a:solidFill>
              <a:srgbClr val="00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50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16093440" cy="779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950" b="1" i="0" dirty="0">
                <a:solidFill>
                  <a:srgbClr val="002060"/>
                </a:solidFill>
                <a:latin typeface="Arial"/>
              </a:rPr>
              <a:t>• Phạm vi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thử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nghiệm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: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Trực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tiếp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tại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2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lớp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12A2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và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12A7 - Trường THPT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Chương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Mỹ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A (Hà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Nội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).</a:t>
            </a:r>
          </a:p>
          <a:p>
            <a:pPr>
              <a:lnSpc>
                <a:spcPct val="120000"/>
              </a:lnSpc>
            </a:pPr>
            <a:r>
              <a:rPr sz="1950" b="1" i="0" dirty="0">
                <a:solidFill>
                  <a:srgbClr val="C00000"/>
                </a:solidFill>
                <a:latin typeface="Arial"/>
              </a:rPr>
              <a:t>•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Thời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gian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lang="vi-VN" sz="1950" b="1" dirty="0">
                <a:solidFill>
                  <a:srgbClr val="C00000"/>
                </a:solidFill>
                <a:latin typeface="Arial"/>
              </a:rPr>
              <a:t>và q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uy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mô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: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Tháng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66160"/>
            <a:ext cx="5212080" cy="484632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50"/>
          </a:p>
        </p:txBody>
      </p:sp>
      <p:sp>
        <p:nvSpPr>
          <p:cNvPr id="10" name="Rounded Rectangle 9"/>
          <p:cNvSpPr/>
          <p:nvPr/>
        </p:nvSpPr>
        <p:spPr>
          <a:xfrm>
            <a:off x="914400" y="3566160"/>
            <a:ext cx="5212080" cy="59436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950"/>
              <a:t>BƯỚC 1: TRUY CẬP TỰ DO (0Đ CHI PHÍ)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80"/>
            <a:ext cx="4846320" cy="3577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vi-VN" sz="2200" b="0" i="0" dirty="0">
                <a:solidFill>
                  <a:srgbClr val="262626"/>
                </a:solidFill>
              </a:rPr>
              <a:t>- </a:t>
            </a:r>
            <a:r>
              <a:rPr sz="2200" b="0" i="0" dirty="0" err="1">
                <a:solidFill>
                  <a:srgbClr val="262626"/>
                </a:solidFill>
              </a:rPr>
              <a:t>Quét</a:t>
            </a:r>
            <a:r>
              <a:rPr sz="2200" b="0" i="0" dirty="0">
                <a:solidFill>
                  <a:srgbClr val="262626"/>
                </a:solidFill>
              </a:rPr>
              <a:t> </a:t>
            </a:r>
            <a:r>
              <a:rPr sz="2200" b="0" i="0" dirty="0" err="1">
                <a:solidFill>
                  <a:srgbClr val="262626"/>
                </a:solidFill>
              </a:rPr>
              <a:t>mã</a:t>
            </a:r>
            <a:r>
              <a:rPr sz="2200" b="0" i="0" dirty="0">
                <a:solidFill>
                  <a:srgbClr val="262626"/>
                </a:solidFill>
              </a:rPr>
              <a:t> QR </a:t>
            </a:r>
            <a:r>
              <a:rPr sz="2200" b="0" i="0" dirty="0" err="1">
                <a:solidFill>
                  <a:srgbClr val="262626"/>
                </a:solidFill>
              </a:rPr>
              <a:t>trên</a:t>
            </a:r>
            <a:r>
              <a:rPr sz="2200" b="0" i="0" dirty="0">
                <a:solidFill>
                  <a:srgbClr val="262626"/>
                </a:solidFill>
              </a:rPr>
              <a:t> </a:t>
            </a:r>
            <a:r>
              <a:rPr sz="2200" b="0" i="0" dirty="0" err="1">
                <a:solidFill>
                  <a:srgbClr val="262626"/>
                </a:solidFill>
              </a:rPr>
              <a:t>điện</a:t>
            </a:r>
            <a:r>
              <a:rPr sz="2200" b="0" i="0" dirty="0">
                <a:solidFill>
                  <a:srgbClr val="262626"/>
                </a:solidFill>
              </a:rPr>
              <a:t> </a:t>
            </a:r>
            <a:r>
              <a:rPr sz="2200" b="0" i="0" dirty="0" err="1">
                <a:solidFill>
                  <a:srgbClr val="262626"/>
                </a:solidFill>
              </a:rPr>
              <a:t>thoại</a:t>
            </a:r>
            <a:r>
              <a:rPr sz="2200" b="0" i="0" dirty="0">
                <a:solidFill>
                  <a:srgbClr val="262626"/>
                </a:solidFill>
              </a:rPr>
              <a:t> </a:t>
            </a:r>
            <a:r>
              <a:rPr sz="2200" b="0" i="0" dirty="0" err="1">
                <a:solidFill>
                  <a:srgbClr val="262626"/>
                </a:solidFill>
              </a:rPr>
              <a:t>hoặc</a:t>
            </a:r>
            <a:r>
              <a:rPr sz="2200" b="0" i="0" dirty="0">
                <a:solidFill>
                  <a:srgbClr val="262626"/>
                </a:solidFill>
              </a:rPr>
              <a:t> </a:t>
            </a:r>
            <a:r>
              <a:rPr sz="2200" b="0" i="0" dirty="0" err="1">
                <a:solidFill>
                  <a:srgbClr val="262626"/>
                </a:solidFill>
              </a:rPr>
              <a:t>máy</a:t>
            </a:r>
            <a:r>
              <a:rPr sz="2200" b="0" i="0" dirty="0">
                <a:solidFill>
                  <a:srgbClr val="262626"/>
                </a:solidFill>
              </a:rPr>
              <a:t> </a:t>
            </a:r>
            <a:r>
              <a:rPr sz="2200" b="0" i="0" dirty="0" err="1">
                <a:solidFill>
                  <a:srgbClr val="262626"/>
                </a:solidFill>
              </a:rPr>
              <a:t>tính</a:t>
            </a:r>
            <a:r>
              <a:rPr sz="2200" b="0" i="0" dirty="0">
                <a:solidFill>
                  <a:srgbClr val="262626"/>
                </a:solidFill>
              </a:rPr>
              <a:t> </a:t>
            </a:r>
            <a:r>
              <a:rPr sz="2200" b="0" i="0" dirty="0" err="1">
                <a:solidFill>
                  <a:srgbClr val="262626"/>
                </a:solidFill>
              </a:rPr>
              <a:t>cá</a:t>
            </a:r>
            <a:r>
              <a:rPr sz="2200" b="0" i="0" dirty="0">
                <a:solidFill>
                  <a:srgbClr val="262626"/>
                </a:solidFill>
              </a:rPr>
              <a:t> </a:t>
            </a:r>
            <a:r>
              <a:rPr sz="2200" b="0" i="0" dirty="0" err="1">
                <a:solidFill>
                  <a:srgbClr val="262626"/>
                </a:solidFill>
              </a:rPr>
              <a:t>nhân</a:t>
            </a:r>
            <a:r>
              <a:rPr sz="2200" b="0" i="0" dirty="0">
                <a:solidFill>
                  <a:srgbClr val="262626"/>
                </a:solidFill>
              </a:rPr>
              <a:t> </a:t>
            </a:r>
            <a:r>
              <a:rPr sz="2200" b="0" i="0" dirty="0" err="1">
                <a:solidFill>
                  <a:srgbClr val="262626"/>
                </a:solidFill>
              </a:rPr>
              <a:t>để</a:t>
            </a:r>
            <a:r>
              <a:rPr sz="2200" b="0" i="0" dirty="0">
                <a:solidFill>
                  <a:srgbClr val="262626"/>
                </a:solidFill>
              </a:rPr>
              <a:t> </a:t>
            </a:r>
            <a:r>
              <a:rPr sz="2200" b="0" i="0" dirty="0" err="1">
                <a:solidFill>
                  <a:srgbClr val="262626"/>
                </a:solidFill>
              </a:rPr>
              <a:t>vào</a:t>
            </a:r>
            <a:r>
              <a:rPr sz="2200" b="0" i="0" dirty="0">
                <a:solidFill>
                  <a:srgbClr val="262626"/>
                </a:solidFill>
              </a:rPr>
              <a:t> Web App </a:t>
            </a:r>
            <a:r>
              <a:rPr sz="2200" b="0" i="0" dirty="0" err="1">
                <a:solidFill>
                  <a:srgbClr val="262626"/>
                </a:solidFill>
              </a:rPr>
              <a:t>ngay</a:t>
            </a:r>
            <a:r>
              <a:rPr sz="2200" b="0" i="0" dirty="0">
                <a:solidFill>
                  <a:srgbClr val="262626"/>
                </a:solidFill>
              </a:rPr>
              <a:t> </a:t>
            </a:r>
            <a:r>
              <a:rPr sz="2200" b="0" i="0" dirty="0" err="1">
                <a:solidFill>
                  <a:srgbClr val="262626"/>
                </a:solidFill>
              </a:rPr>
              <a:t>ngoài</a:t>
            </a:r>
            <a:r>
              <a:rPr sz="2200" b="0" i="0" dirty="0">
                <a:solidFill>
                  <a:srgbClr val="262626"/>
                </a:solidFill>
              </a:rPr>
              <a:t> </a:t>
            </a:r>
            <a:r>
              <a:rPr sz="2200" b="0" i="0" dirty="0" err="1">
                <a:solidFill>
                  <a:srgbClr val="262626"/>
                </a:solidFill>
              </a:rPr>
              <a:t>giờ</a:t>
            </a:r>
            <a:r>
              <a:rPr sz="2200" b="0" i="0" dirty="0">
                <a:solidFill>
                  <a:srgbClr val="262626"/>
                </a:solidFill>
              </a:rPr>
              <a:t> </a:t>
            </a:r>
            <a:r>
              <a:rPr sz="2200" b="0" i="0" dirty="0" err="1">
                <a:solidFill>
                  <a:srgbClr val="262626"/>
                </a:solidFill>
              </a:rPr>
              <a:t>học</a:t>
            </a:r>
            <a:r>
              <a:rPr sz="2200" b="0" i="0" dirty="0">
                <a:solidFill>
                  <a:srgbClr val="262626"/>
                </a:solidFill>
              </a:rPr>
              <a:t>.</a:t>
            </a:r>
            <a:endParaRPr lang="vi-VN" sz="2200" b="0" i="0" dirty="0">
              <a:solidFill>
                <a:srgbClr val="262626"/>
              </a:solidFill>
            </a:endParaRPr>
          </a:p>
          <a:p>
            <a:pPr>
              <a:lnSpc>
                <a:spcPct val="130000"/>
              </a:lnSpc>
            </a:pPr>
            <a:r>
              <a:rPr lang="vi-VN" sz="2200" dirty="0">
                <a:solidFill>
                  <a:srgbClr val="262626"/>
                </a:solidFill>
              </a:rPr>
              <a:t>- Học sinh có thể tải App về dùng trên điện thoại</a:t>
            </a:r>
            <a:br>
              <a:rPr sz="2200" dirty="0"/>
            </a:br>
            <a:r>
              <a:rPr lang="vi-VN" sz="2200" dirty="0"/>
              <a:t>-</a:t>
            </a:r>
            <a:r>
              <a:rPr lang="vi-VN" sz="2200" dirty="0">
                <a:sym typeface="Wingdings" panose="05000000000000000000" pitchFamily="2" charset="2"/>
              </a:rPr>
              <a:t> </a:t>
            </a:r>
            <a:r>
              <a:rPr sz="2200" dirty="0" err="1"/>
              <a:t>Không</a:t>
            </a:r>
            <a:r>
              <a:rPr sz="2200" dirty="0"/>
              <a:t> </a:t>
            </a:r>
            <a:r>
              <a:rPr sz="2200" dirty="0" err="1"/>
              <a:t>cần</a:t>
            </a:r>
            <a:r>
              <a:rPr sz="2200" dirty="0"/>
              <a:t> </a:t>
            </a:r>
            <a:r>
              <a:rPr sz="2200" dirty="0" err="1"/>
              <a:t>tài</a:t>
            </a:r>
            <a:r>
              <a:rPr sz="2200" dirty="0"/>
              <a:t> </a:t>
            </a:r>
            <a:r>
              <a:rPr sz="2200" dirty="0" err="1"/>
              <a:t>khoản</a:t>
            </a:r>
            <a:r>
              <a:rPr sz="2200" dirty="0"/>
              <a:t> </a:t>
            </a:r>
            <a:r>
              <a:rPr sz="2200" dirty="0" err="1"/>
              <a:t>phức</a:t>
            </a:r>
            <a:r>
              <a:rPr sz="2200" dirty="0"/>
              <a:t> </a:t>
            </a:r>
            <a:r>
              <a:rPr sz="2200" dirty="0" err="1"/>
              <a:t>tạp</a:t>
            </a:r>
            <a:r>
              <a:rPr sz="2200" dirty="0"/>
              <a:t>, </a:t>
            </a:r>
            <a:r>
              <a:rPr sz="2200" dirty="0" err="1"/>
              <a:t>không</a:t>
            </a:r>
            <a:r>
              <a:rPr sz="2200" dirty="0"/>
              <a:t> </a:t>
            </a:r>
            <a:r>
              <a:rPr sz="2200" dirty="0" err="1"/>
              <a:t>mất</a:t>
            </a:r>
            <a:r>
              <a:rPr sz="2200" dirty="0"/>
              <a:t> </a:t>
            </a:r>
            <a:r>
              <a:rPr sz="2200" dirty="0" err="1"/>
              <a:t>bất</a:t>
            </a:r>
            <a:r>
              <a:rPr sz="2200" dirty="0"/>
              <a:t> </a:t>
            </a:r>
            <a:r>
              <a:rPr sz="2200" dirty="0" err="1"/>
              <a:t>kỳ</a:t>
            </a:r>
            <a:r>
              <a:rPr sz="2200" dirty="0"/>
              <a:t> chi </a:t>
            </a:r>
            <a:r>
              <a:rPr sz="2200" dirty="0" err="1"/>
              <a:t>phí</a:t>
            </a:r>
            <a:r>
              <a:rPr sz="2200" dirty="0"/>
              <a:t> </a:t>
            </a:r>
            <a:r>
              <a:rPr sz="2200" dirty="0" err="1"/>
              <a:t>nào</a:t>
            </a:r>
            <a:r>
              <a:rPr sz="2200" dirty="0"/>
              <a:t>, </a:t>
            </a:r>
            <a:r>
              <a:rPr sz="2200" dirty="0" err="1"/>
              <a:t>học</a:t>
            </a:r>
            <a:r>
              <a:rPr sz="2200" dirty="0"/>
              <a:t> </a:t>
            </a:r>
            <a:r>
              <a:rPr sz="2200" dirty="0" err="1"/>
              <a:t>sinh</a:t>
            </a:r>
            <a:r>
              <a:rPr sz="2200" dirty="0"/>
              <a:t> </a:t>
            </a:r>
            <a:r>
              <a:rPr sz="2200" dirty="0" err="1"/>
              <a:t>có</a:t>
            </a:r>
            <a:r>
              <a:rPr sz="2200" dirty="0"/>
              <a:t> </a:t>
            </a:r>
            <a:r>
              <a:rPr sz="2200" dirty="0" err="1"/>
              <a:t>thể</a:t>
            </a:r>
            <a:r>
              <a:rPr sz="2200" dirty="0"/>
              <a:t> </a:t>
            </a:r>
            <a:r>
              <a:rPr sz="2200" dirty="0" err="1"/>
              <a:t>ôn</a:t>
            </a:r>
            <a:r>
              <a:rPr sz="2200" dirty="0"/>
              <a:t> </a:t>
            </a:r>
            <a:r>
              <a:rPr sz="2200" dirty="0" err="1"/>
              <a:t>luyện</a:t>
            </a:r>
            <a:r>
              <a:rPr sz="2200" dirty="0"/>
              <a:t> </a:t>
            </a:r>
            <a:r>
              <a:rPr sz="2200" dirty="0" err="1"/>
              <a:t>mọi</a:t>
            </a:r>
            <a:r>
              <a:rPr sz="2200" dirty="0"/>
              <a:t> </a:t>
            </a:r>
            <a:r>
              <a:rPr sz="2200" dirty="0" err="1"/>
              <a:t>lúc</a:t>
            </a:r>
            <a:r>
              <a:rPr sz="2200" dirty="0"/>
              <a:t> </a:t>
            </a:r>
            <a:r>
              <a:rPr sz="2200" dirty="0" err="1"/>
              <a:t>mọi</a:t>
            </a:r>
            <a:r>
              <a:rPr sz="2200" dirty="0"/>
              <a:t> </a:t>
            </a:r>
            <a:r>
              <a:rPr sz="2200" dirty="0" err="1"/>
              <a:t>nơi</a:t>
            </a:r>
            <a:r>
              <a:rPr sz="2200"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566160"/>
            <a:ext cx="5212080" cy="484632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50"/>
          </a:p>
        </p:txBody>
      </p:sp>
      <p:sp>
        <p:nvSpPr>
          <p:cNvPr id="13" name="Rounded Rectangle 12"/>
          <p:cNvSpPr/>
          <p:nvPr/>
        </p:nvSpPr>
        <p:spPr>
          <a:xfrm>
            <a:off x="6537960" y="3566160"/>
            <a:ext cx="5212080" cy="594360"/>
          </a:xfrm>
          <a:prstGeom prst="roundRect">
            <a:avLst/>
          </a:prstGeom>
          <a:solidFill>
            <a:srgbClr val="00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950"/>
              <a:t>BƯỚC 2: TỰ CHỌN CHẾ ĐỘ ÔN LUYỆN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297680"/>
            <a:ext cx="4846320" cy="3577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vi-VN" sz="2200" b="0" i="0" dirty="0">
                <a:solidFill>
                  <a:srgbClr val="262626"/>
                </a:solidFill>
                <a:latin typeface="Arial"/>
              </a:rPr>
              <a:t>-</a:t>
            </a:r>
            <a:r>
              <a:rPr sz="2200" b="0" i="0" dirty="0" err="1">
                <a:solidFill>
                  <a:srgbClr val="262626"/>
                </a:solidFill>
                <a:latin typeface="Arial"/>
              </a:rPr>
              <a:t>Thi</a:t>
            </a:r>
            <a:r>
              <a:rPr sz="22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62626"/>
                </a:solidFill>
                <a:latin typeface="Arial"/>
              </a:rPr>
              <a:t>thử</a:t>
            </a:r>
            <a:r>
              <a:rPr sz="22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62626"/>
                </a:solidFill>
                <a:latin typeface="Arial"/>
              </a:rPr>
              <a:t>tổng</a:t>
            </a:r>
            <a:r>
              <a:rPr sz="22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62626"/>
                </a:solidFill>
                <a:latin typeface="Arial"/>
              </a:rPr>
              <a:t>hợp</a:t>
            </a:r>
            <a:r>
              <a:rPr sz="2200" b="0" i="0" dirty="0">
                <a:solidFill>
                  <a:srgbClr val="262626"/>
                </a:solidFill>
                <a:latin typeface="Arial"/>
              </a:rPr>
              <a:t>: 50 </a:t>
            </a:r>
            <a:r>
              <a:rPr sz="2200" b="0" i="0" dirty="0" err="1">
                <a:solidFill>
                  <a:srgbClr val="262626"/>
                </a:solidFill>
                <a:latin typeface="Arial"/>
              </a:rPr>
              <a:t>câu</a:t>
            </a:r>
            <a:r>
              <a:rPr sz="2200" b="0" i="0" dirty="0">
                <a:solidFill>
                  <a:srgbClr val="262626"/>
                </a:solidFill>
                <a:latin typeface="Arial"/>
              </a:rPr>
              <a:t>/60 </a:t>
            </a:r>
            <a:r>
              <a:rPr sz="2200" b="0" i="0" dirty="0" err="1">
                <a:solidFill>
                  <a:srgbClr val="262626"/>
                </a:solidFill>
                <a:latin typeface="Arial"/>
              </a:rPr>
              <a:t>phút</a:t>
            </a:r>
            <a:r>
              <a:rPr sz="22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62626"/>
                </a:solidFill>
                <a:latin typeface="Arial"/>
              </a:rPr>
              <a:t>bấm</a:t>
            </a:r>
            <a:r>
              <a:rPr sz="22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62626"/>
                </a:solidFill>
                <a:latin typeface="Arial"/>
              </a:rPr>
              <a:t>giờ</a:t>
            </a:r>
            <a:r>
              <a:rPr sz="22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62626"/>
                </a:solidFill>
                <a:latin typeface="Arial"/>
              </a:rPr>
              <a:t>tự</a:t>
            </a:r>
            <a:r>
              <a:rPr sz="22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62626"/>
                </a:solidFill>
                <a:latin typeface="Arial"/>
              </a:rPr>
              <a:t>động</a:t>
            </a:r>
            <a:r>
              <a:rPr sz="22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62626"/>
                </a:solidFill>
                <a:latin typeface="Arial"/>
              </a:rPr>
              <a:t>chuẩn</a:t>
            </a:r>
            <a:r>
              <a:rPr sz="2200" b="0" i="0" dirty="0">
                <a:solidFill>
                  <a:srgbClr val="262626"/>
                </a:solidFill>
                <a:latin typeface="Arial"/>
              </a:rPr>
              <a:t> format </a:t>
            </a:r>
            <a:r>
              <a:rPr sz="2200" b="0" i="0" dirty="0" err="1">
                <a:solidFill>
                  <a:srgbClr val="262626"/>
                </a:solidFill>
                <a:latin typeface="Arial"/>
              </a:rPr>
              <a:t>đề</a:t>
            </a:r>
            <a:r>
              <a:rPr sz="22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62626"/>
                </a:solidFill>
                <a:latin typeface="Arial"/>
              </a:rPr>
              <a:t>thi</a:t>
            </a:r>
            <a:r>
              <a:rPr sz="220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2200" b="0" i="0" dirty="0" err="1">
                <a:solidFill>
                  <a:srgbClr val="262626"/>
                </a:solidFill>
                <a:latin typeface="Arial"/>
              </a:rPr>
              <a:t>thật</a:t>
            </a:r>
            <a:r>
              <a:rPr sz="2200" b="0" i="0" dirty="0">
                <a:solidFill>
                  <a:srgbClr val="262626"/>
                </a:solidFill>
                <a:latin typeface="Arial"/>
              </a:rPr>
              <a:t> ĐHQGHN.</a:t>
            </a:r>
            <a:br>
              <a:rPr sz="2200" dirty="0"/>
            </a:br>
            <a:br>
              <a:rPr sz="2200" dirty="0"/>
            </a:br>
            <a:r>
              <a:rPr lang="vi-VN" sz="2200" dirty="0"/>
              <a:t>- </a:t>
            </a:r>
            <a:r>
              <a:rPr sz="2200" dirty="0" err="1"/>
              <a:t>Luyện</a:t>
            </a:r>
            <a:r>
              <a:rPr sz="2200" dirty="0"/>
              <a:t> </a:t>
            </a:r>
            <a:r>
              <a:rPr sz="2200" dirty="0" err="1"/>
              <a:t>chuyên</a:t>
            </a:r>
            <a:r>
              <a:rPr sz="2200" dirty="0"/>
              <a:t> </a:t>
            </a:r>
            <a:r>
              <a:rPr sz="2200" dirty="0" err="1"/>
              <a:t>sâu</a:t>
            </a:r>
            <a:r>
              <a:rPr sz="2200" dirty="0"/>
              <a:t> </a:t>
            </a:r>
            <a:r>
              <a:rPr sz="2200" dirty="0" err="1"/>
              <a:t>từng</a:t>
            </a:r>
            <a:r>
              <a:rPr sz="2200" dirty="0"/>
              <a:t> </a:t>
            </a:r>
            <a:r>
              <a:rPr sz="2200" dirty="0" err="1"/>
              <a:t>dạng</a:t>
            </a:r>
            <a:r>
              <a:rPr sz="2200" dirty="0"/>
              <a:t>: </a:t>
            </a:r>
            <a:r>
              <a:rPr sz="2200" dirty="0" err="1"/>
              <a:t>Tiếng</a:t>
            </a:r>
            <a:r>
              <a:rPr sz="2200" dirty="0"/>
              <a:t> Việt, Quy </a:t>
            </a:r>
            <a:r>
              <a:rPr sz="2200" dirty="0" err="1"/>
              <a:t>tắc</a:t>
            </a:r>
            <a:r>
              <a:rPr sz="2200" dirty="0"/>
              <a:t> </a:t>
            </a:r>
            <a:r>
              <a:rPr sz="2200" dirty="0" err="1"/>
              <a:t>ngữ</a:t>
            </a:r>
            <a:r>
              <a:rPr sz="2200" dirty="0"/>
              <a:t> </a:t>
            </a:r>
            <a:r>
              <a:rPr sz="2200" dirty="0" err="1"/>
              <a:t>pháp</a:t>
            </a:r>
            <a:r>
              <a:rPr sz="2200" dirty="0"/>
              <a:t>, </a:t>
            </a:r>
            <a:r>
              <a:rPr sz="2200" dirty="0" err="1"/>
              <a:t>Từ</a:t>
            </a:r>
            <a:r>
              <a:rPr sz="2200" dirty="0"/>
              <a:t> </a:t>
            </a:r>
            <a:r>
              <a:rPr sz="2200" dirty="0" err="1"/>
              <a:t>vựng</a:t>
            </a:r>
            <a:r>
              <a:rPr sz="2200" dirty="0"/>
              <a:t>, </a:t>
            </a:r>
            <a:r>
              <a:rPr sz="2200" dirty="0" err="1"/>
              <a:t>Đọc</a:t>
            </a:r>
            <a:r>
              <a:rPr sz="2200" dirty="0"/>
              <a:t> </a:t>
            </a:r>
            <a:r>
              <a:rPr sz="2200" dirty="0" err="1"/>
              <a:t>hiểu</a:t>
            </a:r>
            <a:r>
              <a:rPr sz="2200" dirty="0"/>
              <a:t> </a:t>
            </a:r>
            <a:r>
              <a:rPr sz="2200" dirty="0" err="1"/>
              <a:t>văn</a:t>
            </a:r>
            <a:r>
              <a:rPr sz="2200" dirty="0"/>
              <a:t> </a:t>
            </a:r>
            <a:r>
              <a:rPr sz="2200" dirty="0" err="1"/>
              <a:t>bản</a:t>
            </a:r>
            <a:r>
              <a:rPr sz="2200" dirty="0"/>
              <a:t> </a:t>
            </a:r>
            <a:r>
              <a:rPr sz="2200" dirty="0" err="1"/>
              <a:t>nghệ</a:t>
            </a:r>
            <a:r>
              <a:rPr sz="2200" dirty="0"/>
              <a:t> </a:t>
            </a:r>
            <a:r>
              <a:rPr sz="2200" dirty="0" err="1"/>
              <a:t>thuật</a:t>
            </a:r>
            <a:r>
              <a:rPr sz="2200" dirty="0"/>
              <a:t> </a:t>
            </a:r>
            <a:r>
              <a:rPr sz="2200" dirty="0" err="1"/>
              <a:t>và</a:t>
            </a:r>
            <a:r>
              <a:rPr sz="2200" dirty="0"/>
              <a:t> </a:t>
            </a:r>
            <a:r>
              <a:rPr sz="2200" dirty="0" err="1"/>
              <a:t>thông</a:t>
            </a:r>
            <a:r>
              <a:rPr sz="2200" dirty="0"/>
              <a:t> tin.</a:t>
            </a:r>
            <a:endParaRPr lang="vi-VN" sz="2200" dirty="0"/>
          </a:p>
          <a:p>
            <a:pPr>
              <a:lnSpc>
                <a:spcPct val="130000"/>
              </a:lnSpc>
            </a:pPr>
            <a:r>
              <a:rPr lang="vi-VN" sz="2200" dirty="0"/>
              <a:t>…….</a:t>
            </a:r>
            <a:endParaRPr sz="2200" dirty="0"/>
          </a:p>
        </p:txBody>
      </p:sp>
      <p:sp>
        <p:nvSpPr>
          <p:cNvPr id="15" name="Rounded Rectangle 14"/>
          <p:cNvSpPr/>
          <p:nvPr/>
        </p:nvSpPr>
        <p:spPr>
          <a:xfrm>
            <a:off x="12161520" y="3566160"/>
            <a:ext cx="5212080" cy="484632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50"/>
          </a:p>
        </p:txBody>
      </p:sp>
      <p:sp>
        <p:nvSpPr>
          <p:cNvPr id="16" name="Rounded Rectangle 15"/>
          <p:cNvSpPr/>
          <p:nvPr/>
        </p:nvSpPr>
        <p:spPr>
          <a:xfrm>
            <a:off x="12161520" y="3566160"/>
            <a:ext cx="5212080" cy="59436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950" dirty="0"/>
              <a:t>BƯỚC 3: TỰ ĐÁNH GIÁ </a:t>
            </a:r>
            <a:r>
              <a:rPr lang="vi-VN" sz="1950" dirty="0"/>
              <a:t>VÀ </a:t>
            </a:r>
            <a:r>
              <a:rPr sz="1950" dirty="0"/>
              <a:t>SỬA LỖI VỚI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0" y="4297680"/>
            <a:ext cx="4846320" cy="2987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vi-VN" sz="1950" b="0" i="0" dirty="0">
                <a:solidFill>
                  <a:srgbClr val="262626"/>
                </a:solidFill>
                <a:latin typeface="Arial"/>
              </a:rPr>
              <a:t>-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Hệ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thống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tự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động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chấm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điểm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tức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thì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ngay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sau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nộp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bài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và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lưu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vào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lịch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sử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cá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nhân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.</a:t>
            </a:r>
            <a:br>
              <a:rPr sz="1950" dirty="0"/>
            </a:br>
            <a:br>
              <a:rPr sz="2200" dirty="0"/>
            </a:br>
            <a:r>
              <a:rPr lang="vi-VN" sz="2200" dirty="0"/>
              <a:t>- </a:t>
            </a:r>
            <a:r>
              <a:rPr sz="2200" dirty="0" err="1"/>
              <a:t>Đọc</a:t>
            </a:r>
            <a:r>
              <a:rPr sz="2200" dirty="0"/>
              <a:t> </a:t>
            </a:r>
            <a:r>
              <a:rPr sz="2200" dirty="0" err="1"/>
              <a:t>đáp</a:t>
            </a:r>
            <a:r>
              <a:rPr sz="2200" dirty="0"/>
              <a:t> </a:t>
            </a:r>
            <a:r>
              <a:rPr sz="2200" dirty="0" err="1"/>
              <a:t>án</a:t>
            </a:r>
            <a:r>
              <a:rPr sz="2200" dirty="0"/>
              <a:t> chi </a:t>
            </a:r>
            <a:r>
              <a:rPr sz="2200" dirty="0" err="1"/>
              <a:t>tiết</a:t>
            </a:r>
            <a:r>
              <a:rPr sz="2200" dirty="0"/>
              <a:t> </a:t>
            </a:r>
            <a:r>
              <a:rPr sz="2200" dirty="0" err="1"/>
              <a:t>và</a:t>
            </a:r>
            <a:r>
              <a:rPr sz="2200" dirty="0"/>
              <a:t> </a:t>
            </a:r>
            <a:r>
              <a:rPr sz="2200" dirty="0" err="1"/>
              <a:t>tương</a:t>
            </a:r>
            <a:r>
              <a:rPr sz="2200" dirty="0"/>
              <a:t> </a:t>
            </a:r>
            <a:r>
              <a:rPr sz="2200" dirty="0" err="1"/>
              <a:t>tác</a:t>
            </a:r>
            <a:r>
              <a:rPr sz="2200" dirty="0"/>
              <a:t> 1-1 </a:t>
            </a:r>
            <a:r>
              <a:rPr sz="2200" dirty="0" err="1"/>
              <a:t>với</a:t>
            </a:r>
            <a:r>
              <a:rPr sz="2200" dirty="0"/>
              <a:t> Gia </a:t>
            </a:r>
            <a:r>
              <a:rPr sz="2200" dirty="0" err="1"/>
              <a:t>sư</a:t>
            </a:r>
            <a:r>
              <a:rPr sz="2200" dirty="0"/>
              <a:t> AI ở </a:t>
            </a:r>
            <a:r>
              <a:rPr sz="2200" dirty="0" err="1"/>
              <a:t>từng</a:t>
            </a:r>
            <a:r>
              <a:rPr sz="2200" dirty="0"/>
              <a:t> </a:t>
            </a:r>
            <a:r>
              <a:rPr sz="2200" dirty="0" err="1"/>
              <a:t>câu</a:t>
            </a:r>
            <a:r>
              <a:rPr sz="2200" dirty="0"/>
              <a:t> </a:t>
            </a:r>
            <a:r>
              <a:rPr sz="2200" dirty="0" err="1"/>
              <a:t>sai</a:t>
            </a:r>
            <a:r>
              <a:rPr sz="2200" dirty="0"/>
              <a:t> </a:t>
            </a:r>
            <a:r>
              <a:rPr sz="2200" dirty="0" err="1"/>
              <a:t>để</a:t>
            </a:r>
            <a:r>
              <a:rPr sz="2200" dirty="0"/>
              <a:t> </a:t>
            </a:r>
            <a:r>
              <a:rPr sz="2200" dirty="0" err="1"/>
              <a:t>hiểu</a:t>
            </a:r>
            <a:r>
              <a:rPr sz="2200" dirty="0"/>
              <a:t> </a:t>
            </a:r>
            <a:r>
              <a:rPr sz="2200" dirty="0" err="1"/>
              <a:t>bản</a:t>
            </a:r>
            <a:r>
              <a:rPr sz="2200" dirty="0"/>
              <a:t> </a:t>
            </a:r>
            <a:r>
              <a:rPr sz="2200" dirty="0" err="1"/>
              <a:t>chất</a:t>
            </a:r>
            <a:r>
              <a:rPr sz="2200" dirty="0"/>
              <a:t> </a:t>
            </a:r>
            <a:r>
              <a:rPr sz="2200" dirty="0" err="1"/>
              <a:t>vì</a:t>
            </a:r>
            <a:r>
              <a:rPr sz="2200" dirty="0"/>
              <a:t> </a:t>
            </a:r>
            <a:r>
              <a:rPr sz="2200" dirty="0" err="1"/>
              <a:t>sao</a:t>
            </a:r>
            <a:r>
              <a:rPr sz="2200" dirty="0"/>
              <a:t> </a:t>
            </a:r>
            <a:r>
              <a:rPr sz="2200" dirty="0" err="1"/>
              <a:t>câu</a:t>
            </a:r>
            <a:r>
              <a:rPr sz="2200" dirty="0"/>
              <a:t> </a:t>
            </a:r>
            <a:r>
              <a:rPr sz="2200" dirty="0" err="1"/>
              <a:t>đó</a:t>
            </a:r>
            <a:r>
              <a:rPr sz="2200" dirty="0"/>
              <a:t> </a:t>
            </a:r>
            <a:r>
              <a:rPr sz="2200" dirty="0" err="1"/>
              <a:t>sai</a:t>
            </a:r>
            <a:r>
              <a:rPr sz="22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2811" y="1005632"/>
            <a:ext cx="16459200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sz="3800" b="1" i="0">
                <a:solidFill>
                  <a:srgbClr val="002060"/>
                </a:solidFill>
                <a:latin typeface="Arial"/>
              </a:rPr>
              <a:t>KẾT QUẢ VÀ TÁC ĐỘNG THỰC TIỄN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4375" y="2027149"/>
            <a:ext cx="16868775" cy="4029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marL="653460" lvl="1" indent="-326730" algn="l">
              <a:lnSpc>
                <a:spcPts val="4661"/>
              </a:lnSpc>
              <a:buFont typeface="Arial"/>
              <a:buChar char="•"/>
            </a:pPr>
            <a:endParaRPr lang="en-US" dirty="0"/>
          </a:p>
          <a:p>
            <a:pPr marL="653460" lvl="1" indent="-326730" algn="l">
              <a:lnSpc>
                <a:spcPts val="4661"/>
              </a:lnSpc>
              <a:buFont typeface="Arial"/>
              <a:buChar char="•"/>
            </a:pPr>
            <a:endParaRPr lang="en-US" dirty="0"/>
          </a:p>
          <a:p>
            <a:pPr algn="l">
              <a:lnSpc>
                <a:spcPts val="4661"/>
              </a:lnSpc>
            </a:pPr>
            <a:endParaRPr lang="en-US" sz="3026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Box 5"/>
          <p:cNvSpPr txBox="1"/>
          <p:nvPr/>
        </p:nvSpPr>
        <p:spPr>
          <a:xfrm>
            <a:off x="714375" y="9505950"/>
            <a:ext cx="10426219" cy="32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54"/>
              </a:lnSpc>
            </a:pPr>
            <a:r>
              <a:rPr lang="en-US" sz="2600" b="1" spc="96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Diễn đàn Đổi mới sáng tạo Giáo dục Việt Nam với Trí tuệ nhân tạo 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8919749"/>
            <a:ext cx="18288000" cy="1367251"/>
          </a:xfrm>
          <a:custGeom>
            <a:avLst/>
            <a:gdLst/>
            <a:ahLst/>
            <a:cxnLst/>
            <a:rect l="l" t="t" r="r" b="b"/>
            <a:pathLst>
              <a:path w="18288000" h="1367251">
                <a:moveTo>
                  <a:pt x="0" y="0"/>
                </a:moveTo>
                <a:lnTo>
                  <a:pt x="18288000" y="0"/>
                </a:lnTo>
                <a:lnTo>
                  <a:pt x="18288000" y="1367251"/>
                </a:lnTo>
                <a:lnTo>
                  <a:pt x="0" y="1367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52385"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8412480" cy="649224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8412480" cy="5029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dirty="0"/>
              <a:t>1. TÁC ĐỘNG THỰC TẾ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8046720" cy="373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950" b="1" i="0" dirty="0">
                <a:solidFill>
                  <a:srgbClr val="0046A0"/>
                </a:solidFill>
                <a:latin typeface="Arial"/>
              </a:rPr>
              <a:t>•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Đối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với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Học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sinh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|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Cải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thiện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+24,7%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điểm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số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: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Có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"Gia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sư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24/7"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đồng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hành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ngoài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giờ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;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điểm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trung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bình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tăng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rõ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rệt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từ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29,5/50 (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Lần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1)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lên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36,8/50 (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Lần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3+).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Ghi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nhận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lang="vi-VN" sz="1950" b="0" i="0" dirty="0">
                <a:solidFill>
                  <a:srgbClr val="262626"/>
                </a:solidFill>
                <a:latin typeface="Arial"/>
              </a:rPr>
              <a:t>nhiều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lượt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làm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đề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hoàn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chỉnh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và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145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lượt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hỏi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Gia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sư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AI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để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phân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tích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câu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sai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950" b="1" i="0" dirty="0">
                <a:solidFill>
                  <a:srgbClr val="0046A0"/>
                </a:solidFill>
                <a:latin typeface="Arial"/>
              </a:rPr>
              <a:t>•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Đối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với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Giáo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viên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|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Tiết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kiệm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thời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gian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: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Giải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phóng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giáo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viên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khỏi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khâu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trộn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đề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thủ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công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và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chấm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;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phát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hiện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ngay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lang="vi-VN" sz="1950" b="0" i="0" dirty="0">
                <a:solidFill>
                  <a:srgbClr val="262626"/>
                </a:solidFill>
                <a:latin typeface="Arial"/>
              </a:rPr>
              <a:t>phần học sinh còn yếu để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kịp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thời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củng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cố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trên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lớp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950" b="1" i="0" dirty="0">
                <a:solidFill>
                  <a:srgbClr val="0046A0"/>
                </a:solidFill>
                <a:latin typeface="Arial"/>
              </a:rPr>
              <a:t>• 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Bình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đẳng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cơ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hội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giáo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002060"/>
                </a:solidFill>
                <a:latin typeface="Arial"/>
              </a:rPr>
              <a:t>dục</a:t>
            </a:r>
            <a:r>
              <a:rPr sz="1950" b="1" i="0" dirty="0">
                <a:solidFill>
                  <a:srgbClr val="002060"/>
                </a:solidFill>
                <a:latin typeface="Arial"/>
              </a:rPr>
              <a:t>: 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100%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học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sinh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12A2 </a:t>
            </a:r>
            <a:r>
              <a:rPr lang="vi-VN" sz="1950" dirty="0">
                <a:solidFill>
                  <a:srgbClr val="262626"/>
                </a:solidFill>
                <a:latin typeface="Arial"/>
              </a:rPr>
              <a:t>,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12A7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được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tiếp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cận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kho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đề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chất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lượng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cao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hoàn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toàn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sz="1950" b="0" i="0" dirty="0" err="1">
                <a:solidFill>
                  <a:srgbClr val="262626"/>
                </a:solidFill>
                <a:latin typeface="Arial"/>
              </a:rPr>
              <a:t>miễn</a:t>
            </a:r>
            <a:r>
              <a:rPr sz="1950" b="0" i="0" dirty="0">
                <a:solidFill>
                  <a:srgbClr val="262626"/>
                </a:solidFill>
                <a:latin typeface="Arial"/>
              </a:rPr>
              <a:t> </a:t>
            </a:r>
            <a:r>
              <a:rPr lang="vi-VN" sz="1950" b="0" i="0" dirty="0">
                <a:solidFill>
                  <a:srgbClr val="262626"/>
                </a:solidFill>
                <a:latin typeface="Arial"/>
              </a:rPr>
              <a:t>phí.</a:t>
            </a:r>
            <a:endParaRPr sz="195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692640" y="1920240"/>
            <a:ext cx="7680960" cy="649224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92640" y="1920240"/>
            <a:ext cx="7680960" cy="50292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dirty="0"/>
              <a:t>2. PHẢN HỒI THỰC TẾ </a:t>
            </a:r>
            <a:r>
              <a:rPr lang="vi-VN" dirty="0"/>
              <a:t>VÀ</a:t>
            </a:r>
            <a:r>
              <a:rPr dirty="0"/>
              <a:t> MỨC ĐỘ HÀI LÒNG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560320"/>
            <a:ext cx="7315200" cy="419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950" b="1" i="0" dirty="0" err="1">
                <a:solidFill>
                  <a:srgbClr val="C00000"/>
                </a:solidFill>
                <a:latin typeface="Arial"/>
              </a:rPr>
              <a:t>Độ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hài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lòng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chung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: 4.9 / 5.0 (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Rất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hài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 </a:t>
            </a:r>
            <a:r>
              <a:rPr sz="1950" b="1" i="0" dirty="0" err="1">
                <a:solidFill>
                  <a:srgbClr val="C00000"/>
                </a:solidFill>
                <a:latin typeface="Arial"/>
              </a:rPr>
              <a:t>lòng</a:t>
            </a:r>
            <a:r>
              <a:rPr sz="1950" b="1" i="0" dirty="0">
                <a:solidFill>
                  <a:srgbClr val="C00000"/>
                </a:solidFill>
                <a:latin typeface="Arial"/>
              </a:rPr>
              <a:t>)</a:t>
            </a:r>
            <a:endParaRPr sz="1950" b="0" i="1" dirty="0">
              <a:solidFill>
                <a:srgbClr val="5A5A5A"/>
              </a:solidFill>
              <a:latin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9A1EF3-6855-4AA0-FDBB-6AA1350C97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0119" y="3083248"/>
            <a:ext cx="7491892" cy="48034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C9B20-1AE6-34FF-1B71-ADD984E3A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B4B9C6A-43E8-0D81-CEF8-591AA58A7FCE}"/>
              </a:ext>
            </a:extLst>
          </p:cNvPr>
          <p:cNvSpPr txBox="1"/>
          <p:nvPr/>
        </p:nvSpPr>
        <p:spPr>
          <a:xfrm>
            <a:off x="882811" y="1005632"/>
            <a:ext cx="16459200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sz="3800" b="1" i="0">
                <a:solidFill>
                  <a:srgbClr val="002060"/>
                </a:solidFill>
                <a:latin typeface="Arial"/>
              </a:rPr>
              <a:t>KẾT QUẢ VÀ TÁC ĐỘNG THỰC TIỄN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B92BACB-C58C-A642-441D-D35B3A086521}"/>
              </a:ext>
            </a:extLst>
          </p:cNvPr>
          <p:cNvSpPr txBox="1"/>
          <p:nvPr/>
        </p:nvSpPr>
        <p:spPr>
          <a:xfrm>
            <a:off x="714375" y="2027149"/>
            <a:ext cx="16868775" cy="4029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marL="653460" lvl="1" indent="-326730" algn="l">
              <a:lnSpc>
                <a:spcPts val="4661"/>
              </a:lnSpc>
              <a:buFont typeface="Arial"/>
              <a:buChar char="•"/>
            </a:pPr>
            <a:endParaRPr lang="en-US" dirty="0"/>
          </a:p>
          <a:p>
            <a:pPr marL="653460" lvl="1" indent="-326730" algn="l">
              <a:lnSpc>
                <a:spcPts val="4661"/>
              </a:lnSpc>
              <a:buFont typeface="Arial"/>
              <a:buChar char="•"/>
            </a:pPr>
            <a:endParaRPr lang="en-US" dirty="0"/>
          </a:p>
          <a:p>
            <a:pPr algn="l">
              <a:lnSpc>
                <a:spcPts val="4661"/>
              </a:lnSpc>
            </a:pPr>
            <a:endParaRPr lang="en-US" sz="3026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6A6AFEA1-D46D-6020-3561-175CECDCF37B}"/>
              </a:ext>
            </a:extLst>
          </p:cNvPr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49ECE98-D00A-50BF-979D-A0D9A88475AD}"/>
              </a:ext>
            </a:extLst>
          </p:cNvPr>
          <p:cNvSpPr txBox="1"/>
          <p:nvPr/>
        </p:nvSpPr>
        <p:spPr>
          <a:xfrm>
            <a:off x="714375" y="9505950"/>
            <a:ext cx="10426219" cy="32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54"/>
              </a:lnSpc>
            </a:pPr>
            <a:r>
              <a:rPr lang="en-US" sz="2600" b="1" spc="96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Diễn đàn Đổi mới sáng tạo Giáo dục Việt Nam với Trí tuệ nhân tạo 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B890EE5-A72B-6FD7-F262-1D9B33B21389}"/>
              </a:ext>
            </a:extLst>
          </p:cNvPr>
          <p:cNvSpPr/>
          <p:nvPr/>
        </p:nvSpPr>
        <p:spPr>
          <a:xfrm>
            <a:off x="0" y="8919749"/>
            <a:ext cx="18288000" cy="1367251"/>
          </a:xfrm>
          <a:custGeom>
            <a:avLst/>
            <a:gdLst/>
            <a:ahLst/>
            <a:cxnLst/>
            <a:rect l="l" t="t" r="r" b="b"/>
            <a:pathLst>
              <a:path w="18288000" h="1367251">
                <a:moveTo>
                  <a:pt x="0" y="0"/>
                </a:moveTo>
                <a:lnTo>
                  <a:pt x="18288000" y="0"/>
                </a:lnTo>
                <a:lnTo>
                  <a:pt x="18288000" y="1367251"/>
                </a:lnTo>
                <a:lnTo>
                  <a:pt x="0" y="1367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52385"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67FC58D-FE03-A5B5-1FBC-85F5AC1B7D32}"/>
              </a:ext>
            </a:extLst>
          </p:cNvPr>
          <p:cNvSpPr/>
          <p:nvPr/>
        </p:nvSpPr>
        <p:spPr>
          <a:xfrm>
            <a:off x="914400" y="1920240"/>
            <a:ext cx="8412480" cy="649224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8B3957A-C116-CFE5-29BA-A3A607BB8161}"/>
              </a:ext>
            </a:extLst>
          </p:cNvPr>
          <p:cNvSpPr/>
          <p:nvPr/>
        </p:nvSpPr>
        <p:spPr>
          <a:xfrm>
            <a:off x="914400" y="1920240"/>
            <a:ext cx="8412480" cy="5029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lang="vi-VN" dirty="0"/>
              <a:t>BÁO CÁO VÀ THỐNG KÊ TRÊN WEB APP</a:t>
            </a: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838D826-D5AF-43BC-2E3E-8085CB7F1AC7}"/>
              </a:ext>
            </a:extLst>
          </p:cNvPr>
          <p:cNvSpPr/>
          <p:nvPr/>
        </p:nvSpPr>
        <p:spPr>
          <a:xfrm>
            <a:off x="9692640" y="1920240"/>
            <a:ext cx="7680960" cy="649224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2996EF-5C67-8A06-2ACC-0FAA530CE5BF}"/>
              </a:ext>
            </a:extLst>
          </p:cNvPr>
          <p:cNvSpPr/>
          <p:nvPr/>
        </p:nvSpPr>
        <p:spPr>
          <a:xfrm>
            <a:off x="9692640" y="1920240"/>
            <a:ext cx="7680960" cy="50292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lang="vi-VN" dirty="0"/>
              <a:t>VINH DANH THÀNH TÍCH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E76261-9DC0-8B6F-D3D9-7371BD461148}"/>
              </a:ext>
            </a:extLst>
          </p:cNvPr>
          <p:cNvSpPr txBox="1"/>
          <p:nvPr/>
        </p:nvSpPr>
        <p:spPr>
          <a:xfrm>
            <a:off x="9875520" y="2560320"/>
            <a:ext cx="7315200" cy="419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endParaRPr lang="vi-VN" sz="1950" b="1" i="0" dirty="0" err="1">
              <a:solidFill>
                <a:srgbClr val="C00000"/>
              </a:solidFill>
              <a:latin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FD3316-6521-1D9F-CFAF-952CB6FCA9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560320"/>
            <a:ext cx="7467600" cy="56431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5491FE9-260F-1167-FA66-16161B28A3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030" y="2526806"/>
            <a:ext cx="6951981" cy="529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936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2811" y="1005692"/>
            <a:ext cx="16459200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sz="3800" b="1" i="0" dirty="0">
                <a:solidFill>
                  <a:srgbClr val="002060"/>
                </a:solidFill>
                <a:latin typeface="Arial"/>
              </a:rPr>
              <a:t>THẢO LUẬN VÀ TỔNG KẾT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4375" y="1940442"/>
            <a:ext cx="16868775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AutoShape 4"/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Box 5"/>
          <p:cNvSpPr txBox="1"/>
          <p:nvPr/>
        </p:nvSpPr>
        <p:spPr>
          <a:xfrm>
            <a:off x="714375" y="9505950"/>
            <a:ext cx="10426219" cy="32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54"/>
              </a:lnSpc>
            </a:pPr>
            <a:r>
              <a:rPr lang="en-US" sz="2600" b="1" spc="96">
                <a:solidFill>
                  <a:srgbClr val="000054"/>
                </a:solidFill>
                <a:latin typeface="Aptos Bold"/>
                <a:ea typeface="Aptos Bold"/>
                <a:cs typeface="Aptos Bold"/>
                <a:sym typeface="Aptos Bold"/>
              </a:rPr>
              <a:t>Diễn đàn Đổi mới sáng tạo Giáo dục Việt Nam với Trí tuệ nhân tạo 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8852107"/>
            <a:ext cx="18288000" cy="1434893"/>
          </a:xfrm>
          <a:custGeom>
            <a:avLst/>
            <a:gdLst/>
            <a:ahLst/>
            <a:cxnLst/>
            <a:rect l="l" t="t" r="r" b="b"/>
            <a:pathLst>
              <a:path w="18288000" h="1434893">
                <a:moveTo>
                  <a:pt x="0" y="0"/>
                </a:moveTo>
                <a:lnTo>
                  <a:pt x="18288000" y="0"/>
                </a:lnTo>
                <a:lnTo>
                  <a:pt x="18288000" y="1434893"/>
                </a:lnTo>
                <a:lnTo>
                  <a:pt x="0" y="1434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16917"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5212080" cy="640080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5212080" cy="59436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600"/>
              <a:t>ƯU THẾ VƯỢT TRỘI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46320" cy="4654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vi-VN" sz="2300" b="0" i="0" dirty="0">
                <a:solidFill>
                  <a:srgbClr val="262626"/>
                </a:solidFill>
              </a:rPr>
              <a:t>• Khắc phục nhược điểm cuộn trang mỏi mắt của Google Forms nhờ giao diện chia đôi màn hình</a:t>
            </a:r>
            <a:br>
              <a:rPr lang="vi-VN" sz="2300" dirty="0"/>
            </a:br>
            <a:br>
              <a:rPr lang="vi-VN" sz="2300" dirty="0"/>
            </a:br>
            <a:r>
              <a:rPr lang="vi-VN" sz="2300" dirty="0"/>
              <a:t>• Loại trừ rủi ro về sự thiếu chính xác thường gặp ở ChatGPT hay Gemin và một số ứng dụng AI khác </a:t>
            </a:r>
            <a:br>
              <a:rPr lang="vi-VN" sz="2300" dirty="0"/>
            </a:br>
            <a:br>
              <a:rPr lang="vi-VN" sz="2300" dirty="0"/>
            </a:br>
            <a:r>
              <a:rPr lang="vi-VN" sz="2300" dirty="0"/>
              <a:t>• Cá nhân hóa tối đa lộ trình sửa sai cho từng học sinh với Gia sư ảo AI.</a:t>
            </a:r>
            <a:endParaRPr sz="2300" dirty="0"/>
          </a:p>
        </p:txBody>
      </p:sp>
      <p:sp>
        <p:nvSpPr>
          <p:cNvPr id="10" name="Rounded Rectangle 9"/>
          <p:cNvSpPr/>
          <p:nvPr/>
        </p:nvSpPr>
        <p:spPr>
          <a:xfrm>
            <a:off x="6537960" y="2011680"/>
            <a:ext cx="5212080" cy="640080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37960" y="2011680"/>
            <a:ext cx="5212080" cy="594360"/>
          </a:xfrm>
          <a:prstGeom prst="roundRect">
            <a:avLst/>
          </a:prstGeom>
          <a:solidFill>
            <a:srgbClr val="00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600" dirty="0"/>
              <a:t>TÍNH BỀN VỮNG </a:t>
            </a:r>
            <a:r>
              <a:rPr lang="vi-VN" sz="1600" dirty="0"/>
              <a:t>VÀ</a:t>
            </a:r>
            <a:r>
              <a:rPr sz="1600" dirty="0"/>
              <a:t> LAN TỎA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743200"/>
            <a:ext cx="4846320" cy="5094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300" b="0" i="0" dirty="0">
                <a:solidFill>
                  <a:srgbClr val="262626"/>
                </a:solidFill>
              </a:rPr>
              <a:t>• </a:t>
            </a:r>
            <a:r>
              <a:rPr sz="2300" b="0" i="0" dirty="0" err="1">
                <a:solidFill>
                  <a:srgbClr val="262626"/>
                </a:solidFill>
              </a:rPr>
              <a:t>Nội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bộ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nhà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trường</a:t>
            </a:r>
            <a:r>
              <a:rPr sz="2300" b="0" i="0" dirty="0">
                <a:solidFill>
                  <a:srgbClr val="262626"/>
                </a:solidFill>
              </a:rPr>
              <a:t>: Lan </a:t>
            </a:r>
            <a:r>
              <a:rPr sz="2300" b="0" i="0" dirty="0" err="1">
                <a:solidFill>
                  <a:srgbClr val="262626"/>
                </a:solidFill>
              </a:rPr>
              <a:t>tỏa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từ</a:t>
            </a:r>
            <a:r>
              <a:rPr sz="2300" b="0" i="0" dirty="0">
                <a:solidFill>
                  <a:srgbClr val="262626"/>
                </a:solidFill>
              </a:rPr>
              <a:t> 2 </a:t>
            </a:r>
            <a:r>
              <a:rPr sz="2300" b="0" i="0" dirty="0" err="1">
                <a:solidFill>
                  <a:srgbClr val="262626"/>
                </a:solidFill>
              </a:rPr>
              <a:t>lớp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điểm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ra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toàn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bộ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học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sinh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khối</a:t>
            </a:r>
            <a:r>
              <a:rPr sz="2300" b="0" i="0" dirty="0">
                <a:solidFill>
                  <a:srgbClr val="262626"/>
                </a:solidFill>
              </a:rPr>
              <a:t> 12 THPT </a:t>
            </a:r>
            <a:r>
              <a:rPr sz="2300" b="0" i="0" dirty="0" err="1">
                <a:solidFill>
                  <a:srgbClr val="262626"/>
                </a:solidFill>
              </a:rPr>
              <a:t>Chương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Mỹ</a:t>
            </a:r>
            <a:r>
              <a:rPr sz="2300" b="0" i="0" dirty="0">
                <a:solidFill>
                  <a:srgbClr val="262626"/>
                </a:solidFill>
              </a:rPr>
              <a:t> A.</a:t>
            </a:r>
            <a:br>
              <a:rPr sz="2300" dirty="0"/>
            </a:br>
            <a:br>
              <a:rPr sz="2300" dirty="0"/>
            </a:br>
            <a:r>
              <a:rPr sz="2300" dirty="0"/>
              <a:t>• </a:t>
            </a:r>
            <a:r>
              <a:rPr sz="2300" dirty="0" err="1"/>
              <a:t>Cộng</a:t>
            </a:r>
            <a:r>
              <a:rPr sz="2300" dirty="0"/>
              <a:t> </a:t>
            </a:r>
            <a:r>
              <a:rPr sz="2300" dirty="0" err="1"/>
              <a:t>đồng</a:t>
            </a:r>
            <a:r>
              <a:rPr sz="2300" dirty="0"/>
              <a:t>: </a:t>
            </a:r>
            <a:r>
              <a:rPr sz="2300" dirty="0" err="1"/>
              <a:t>Nhờ</a:t>
            </a:r>
            <a:r>
              <a:rPr sz="2300" dirty="0"/>
              <a:t> </a:t>
            </a:r>
            <a:r>
              <a:rPr sz="2300" dirty="0" err="1"/>
              <a:t>nền</a:t>
            </a:r>
            <a:r>
              <a:rPr sz="2300" dirty="0"/>
              <a:t> </a:t>
            </a:r>
            <a:r>
              <a:rPr sz="2300" dirty="0" err="1"/>
              <a:t>tảng</a:t>
            </a:r>
            <a:r>
              <a:rPr sz="2300" dirty="0"/>
              <a:t> Web App </a:t>
            </a:r>
            <a:r>
              <a:rPr sz="2300" dirty="0" err="1"/>
              <a:t>mở</a:t>
            </a:r>
            <a:r>
              <a:rPr sz="2300" dirty="0"/>
              <a:t>, </a:t>
            </a:r>
            <a:r>
              <a:rPr sz="2300" dirty="0" err="1"/>
              <a:t>học</a:t>
            </a:r>
            <a:r>
              <a:rPr sz="2300" dirty="0"/>
              <a:t> </a:t>
            </a:r>
            <a:r>
              <a:rPr sz="2300" dirty="0" err="1"/>
              <a:t>sinh</a:t>
            </a:r>
            <a:r>
              <a:rPr sz="2300" dirty="0"/>
              <a:t> </a:t>
            </a:r>
            <a:r>
              <a:rPr sz="2300" dirty="0" err="1"/>
              <a:t>lớp</a:t>
            </a:r>
            <a:r>
              <a:rPr sz="2300" dirty="0"/>
              <a:t> 12 </a:t>
            </a:r>
            <a:r>
              <a:rPr sz="2300" dirty="0" err="1"/>
              <a:t>trên</a:t>
            </a:r>
            <a:r>
              <a:rPr sz="2300" dirty="0"/>
              <a:t> </a:t>
            </a:r>
            <a:r>
              <a:rPr sz="2300" dirty="0" err="1"/>
              <a:t>toàn</a:t>
            </a:r>
            <a:r>
              <a:rPr sz="2300" dirty="0"/>
              <a:t> </a:t>
            </a:r>
            <a:r>
              <a:rPr sz="2300" dirty="0" err="1"/>
              <a:t>quốc</a:t>
            </a:r>
            <a:r>
              <a:rPr sz="2300" dirty="0"/>
              <a:t> </a:t>
            </a:r>
            <a:r>
              <a:rPr sz="2300" dirty="0" err="1"/>
              <a:t>đều</a:t>
            </a:r>
            <a:r>
              <a:rPr sz="2300" dirty="0"/>
              <a:t> </a:t>
            </a:r>
            <a:r>
              <a:rPr sz="2300" dirty="0" err="1"/>
              <a:t>có</a:t>
            </a:r>
            <a:r>
              <a:rPr sz="2300" dirty="0"/>
              <a:t> </a:t>
            </a:r>
            <a:r>
              <a:rPr sz="2300" dirty="0" err="1"/>
              <a:t>thể</a:t>
            </a:r>
            <a:r>
              <a:rPr sz="2300" dirty="0"/>
              <a:t> </a:t>
            </a:r>
            <a:r>
              <a:rPr sz="2300" dirty="0" err="1"/>
              <a:t>truy</a:t>
            </a:r>
            <a:r>
              <a:rPr sz="2300" dirty="0"/>
              <a:t> </a:t>
            </a:r>
            <a:r>
              <a:rPr sz="2300" dirty="0" err="1"/>
              <a:t>cập</a:t>
            </a:r>
            <a:r>
              <a:rPr sz="2300" dirty="0"/>
              <a:t> </a:t>
            </a:r>
            <a:r>
              <a:rPr sz="2300" dirty="0" err="1"/>
              <a:t>ôn</a:t>
            </a:r>
            <a:r>
              <a:rPr sz="2300" dirty="0"/>
              <a:t> </a:t>
            </a:r>
            <a:r>
              <a:rPr sz="2300" dirty="0" err="1"/>
              <a:t>luyện</a:t>
            </a:r>
            <a:r>
              <a:rPr sz="2300" dirty="0"/>
              <a:t> 0đ.</a:t>
            </a:r>
            <a:br>
              <a:rPr sz="2300" dirty="0"/>
            </a:br>
            <a:br>
              <a:rPr sz="2300" dirty="0"/>
            </a:br>
            <a:r>
              <a:rPr sz="2300" dirty="0"/>
              <a:t>• Chi </a:t>
            </a:r>
            <a:r>
              <a:rPr sz="2300" dirty="0" err="1"/>
              <a:t>phí</a:t>
            </a:r>
            <a:r>
              <a:rPr sz="2300" dirty="0"/>
              <a:t> </a:t>
            </a:r>
            <a:r>
              <a:rPr sz="2300" dirty="0" err="1"/>
              <a:t>vận</a:t>
            </a:r>
            <a:r>
              <a:rPr sz="2300" dirty="0"/>
              <a:t> </a:t>
            </a:r>
            <a:r>
              <a:rPr sz="2300" dirty="0" err="1"/>
              <a:t>hành</a:t>
            </a:r>
            <a:r>
              <a:rPr sz="2300" dirty="0"/>
              <a:t> = 0 </a:t>
            </a:r>
            <a:r>
              <a:rPr sz="2300" dirty="0" err="1"/>
              <a:t>đồng</a:t>
            </a:r>
            <a:r>
              <a:rPr sz="2300" dirty="0"/>
              <a:t>: Lưu </a:t>
            </a:r>
            <a:r>
              <a:rPr sz="2300" dirty="0" err="1"/>
              <a:t>trữ</a:t>
            </a:r>
            <a:r>
              <a:rPr sz="2300" dirty="0"/>
              <a:t> </a:t>
            </a:r>
            <a:r>
              <a:rPr sz="2300" dirty="0" err="1"/>
              <a:t>vĩnh</a:t>
            </a:r>
            <a:r>
              <a:rPr sz="2300" dirty="0"/>
              <a:t> </a:t>
            </a:r>
            <a:r>
              <a:rPr sz="2300" dirty="0" err="1"/>
              <a:t>viễn</a:t>
            </a:r>
            <a:r>
              <a:rPr sz="2300" dirty="0"/>
              <a:t> </a:t>
            </a:r>
            <a:r>
              <a:rPr sz="2300" dirty="0" err="1"/>
              <a:t>trên</a:t>
            </a:r>
            <a:r>
              <a:rPr sz="2300" dirty="0"/>
              <a:t> GitHub Pages </a:t>
            </a:r>
            <a:r>
              <a:rPr lang="vi-VN" sz="2300" dirty="0"/>
              <a:t>hoặc</a:t>
            </a:r>
            <a:r>
              <a:rPr sz="2300" dirty="0"/>
              <a:t> Netlify, </a:t>
            </a:r>
            <a:r>
              <a:rPr sz="2300" dirty="0" err="1"/>
              <a:t>không</a:t>
            </a:r>
            <a:r>
              <a:rPr sz="2300" dirty="0"/>
              <a:t> </a:t>
            </a:r>
            <a:r>
              <a:rPr sz="2300" dirty="0" err="1"/>
              <a:t>phát</a:t>
            </a:r>
            <a:r>
              <a:rPr sz="2300" dirty="0"/>
              <a:t> </a:t>
            </a:r>
            <a:r>
              <a:rPr sz="2300" dirty="0" err="1"/>
              <a:t>sinh</a:t>
            </a:r>
            <a:r>
              <a:rPr sz="2300" dirty="0"/>
              <a:t> chi </a:t>
            </a:r>
            <a:r>
              <a:rPr sz="2300" dirty="0" err="1"/>
              <a:t>phí</a:t>
            </a:r>
            <a:r>
              <a:rPr sz="2300" dirty="0"/>
              <a:t> server.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161520" y="2011680"/>
            <a:ext cx="5212080" cy="640080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2161520" y="2011680"/>
            <a:ext cx="5212080" cy="59436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sz="1600" dirty="0"/>
              <a:t>ĐỊNH HƯỚNG TƯƠNG LAI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0" y="2743200"/>
            <a:ext cx="4846320" cy="4656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300" b="0" i="0" dirty="0">
                <a:solidFill>
                  <a:srgbClr val="262626"/>
                </a:solidFill>
              </a:rPr>
              <a:t>• </a:t>
            </a:r>
            <a:r>
              <a:rPr sz="2300" b="0" i="0" dirty="0" err="1">
                <a:solidFill>
                  <a:srgbClr val="262626"/>
                </a:solidFill>
              </a:rPr>
              <a:t>Mở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rộng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ngân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hàng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đề</a:t>
            </a:r>
            <a:r>
              <a:rPr sz="2300" b="0" i="0" dirty="0">
                <a:solidFill>
                  <a:srgbClr val="262626"/>
                </a:solidFill>
              </a:rPr>
              <a:t> HSA </a:t>
            </a:r>
            <a:r>
              <a:rPr sz="2300" b="0" i="0" dirty="0" err="1">
                <a:solidFill>
                  <a:srgbClr val="262626"/>
                </a:solidFill>
              </a:rPr>
              <a:t>hàng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năm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theo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sát</a:t>
            </a:r>
            <a:r>
              <a:rPr sz="2300" b="0" i="0" dirty="0">
                <a:solidFill>
                  <a:srgbClr val="262626"/>
                </a:solidFill>
              </a:rPr>
              <a:t> ma </a:t>
            </a:r>
            <a:r>
              <a:rPr sz="2300" b="0" i="0" dirty="0" err="1">
                <a:solidFill>
                  <a:srgbClr val="262626"/>
                </a:solidFill>
              </a:rPr>
              <a:t>trận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đề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minh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họa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mới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nhất</a:t>
            </a:r>
            <a:r>
              <a:rPr sz="2300" b="0" i="0" dirty="0">
                <a:solidFill>
                  <a:srgbClr val="262626"/>
                </a:solidFill>
              </a:rPr>
              <a:t> </a:t>
            </a:r>
            <a:r>
              <a:rPr sz="2300" b="0" i="0" dirty="0" err="1">
                <a:solidFill>
                  <a:srgbClr val="262626"/>
                </a:solidFill>
              </a:rPr>
              <a:t>của</a:t>
            </a:r>
            <a:r>
              <a:rPr sz="2300" b="0" i="0" dirty="0">
                <a:solidFill>
                  <a:srgbClr val="262626"/>
                </a:solidFill>
              </a:rPr>
              <a:t> ĐHQG Hà </a:t>
            </a:r>
            <a:r>
              <a:rPr sz="2300" b="0" i="0" dirty="0" err="1">
                <a:solidFill>
                  <a:srgbClr val="262626"/>
                </a:solidFill>
              </a:rPr>
              <a:t>Nội</a:t>
            </a:r>
            <a:r>
              <a:rPr sz="2300" b="0" i="0" dirty="0">
                <a:solidFill>
                  <a:srgbClr val="262626"/>
                </a:solidFill>
              </a:rPr>
              <a:t>.</a:t>
            </a:r>
            <a:br>
              <a:rPr sz="2300" dirty="0"/>
            </a:br>
            <a:br>
              <a:rPr sz="2300" dirty="0"/>
            </a:br>
            <a:r>
              <a:rPr sz="2300" dirty="0"/>
              <a:t>• </a:t>
            </a:r>
            <a:r>
              <a:rPr sz="2300" dirty="0" err="1"/>
              <a:t>Nhân</a:t>
            </a:r>
            <a:r>
              <a:rPr sz="2300" dirty="0"/>
              <a:t> </a:t>
            </a:r>
            <a:r>
              <a:rPr sz="2300" dirty="0" err="1"/>
              <a:t>rộng</a:t>
            </a:r>
            <a:r>
              <a:rPr sz="2300" dirty="0"/>
              <a:t> </a:t>
            </a:r>
            <a:r>
              <a:rPr sz="2300" dirty="0" err="1"/>
              <a:t>kiến</a:t>
            </a:r>
            <a:r>
              <a:rPr sz="2300" dirty="0"/>
              <a:t> </a:t>
            </a:r>
            <a:r>
              <a:rPr sz="2300" dirty="0" err="1"/>
              <a:t>trúc</a:t>
            </a:r>
            <a:r>
              <a:rPr sz="2300" dirty="0"/>
              <a:t> </a:t>
            </a:r>
            <a:r>
              <a:rPr sz="2300" dirty="0" err="1"/>
              <a:t>mã</a:t>
            </a:r>
            <a:r>
              <a:rPr sz="2300" dirty="0"/>
              <a:t> </a:t>
            </a:r>
            <a:r>
              <a:rPr sz="2300" dirty="0" err="1"/>
              <a:t>nguồn</a:t>
            </a:r>
            <a:r>
              <a:rPr sz="2300" dirty="0"/>
              <a:t> </a:t>
            </a:r>
            <a:r>
              <a:rPr sz="2300" dirty="0" err="1"/>
              <a:t>mở</a:t>
            </a:r>
            <a:r>
              <a:rPr sz="2300" dirty="0"/>
              <a:t> sang </a:t>
            </a:r>
            <a:r>
              <a:rPr sz="2300" dirty="0" err="1"/>
              <a:t>các</a:t>
            </a:r>
            <a:r>
              <a:rPr sz="2300" dirty="0"/>
              <a:t> </a:t>
            </a:r>
            <a:r>
              <a:rPr sz="2300" dirty="0" err="1"/>
              <a:t>môn</a:t>
            </a:r>
            <a:r>
              <a:rPr sz="2300" dirty="0"/>
              <a:t> </a:t>
            </a:r>
            <a:r>
              <a:rPr sz="2300" dirty="0" err="1"/>
              <a:t>thi</a:t>
            </a:r>
            <a:r>
              <a:rPr sz="2300" dirty="0"/>
              <a:t> </a:t>
            </a:r>
            <a:r>
              <a:rPr sz="2300" dirty="0" err="1"/>
              <a:t>trắc</a:t>
            </a:r>
            <a:r>
              <a:rPr sz="2300" dirty="0"/>
              <a:t> </a:t>
            </a:r>
            <a:r>
              <a:rPr sz="2300" dirty="0" err="1"/>
              <a:t>nghiệm</a:t>
            </a:r>
            <a:r>
              <a:rPr sz="2300" dirty="0"/>
              <a:t> </a:t>
            </a:r>
            <a:r>
              <a:rPr sz="2300" dirty="0" err="1"/>
              <a:t>khác</a:t>
            </a:r>
            <a:r>
              <a:rPr sz="2300" dirty="0"/>
              <a:t> </a:t>
            </a:r>
            <a:r>
              <a:rPr sz="2300" dirty="0" err="1"/>
              <a:t>như</a:t>
            </a:r>
            <a:r>
              <a:rPr sz="2300" dirty="0"/>
              <a:t> </a:t>
            </a:r>
            <a:r>
              <a:rPr sz="2300" dirty="0" err="1"/>
              <a:t>Lịch</a:t>
            </a:r>
            <a:r>
              <a:rPr sz="2300" dirty="0"/>
              <a:t> </a:t>
            </a:r>
            <a:r>
              <a:rPr sz="2300" dirty="0" err="1"/>
              <a:t>sử</a:t>
            </a:r>
            <a:r>
              <a:rPr sz="2300" dirty="0"/>
              <a:t>, </a:t>
            </a:r>
            <a:r>
              <a:rPr sz="2300" dirty="0" err="1"/>
              <a:t>Địa</a:t>
            </a:r>
            <a:r>
              <a:rPr sz="2300" dirty="0"/>
              <a:t> </a:t>
            </a:r>
            <a:r>
              <a:rPr sz="2300" dirty="0" err="1"/>
              <a:t>lý</a:t>
            </a:r>
            <a:r>
              <a:rPr sz="2300" dirty="0"/>
              <a:t>, </a:t>
            </a:r>
            <a:r>
              <a:rPr sz="2300" dirty="0" err="1"/>
              <a:t>Tiếng</a:t>
            </a:r>
            <a:r>
              <a:rPr sz="2300" dirty="0"/>
              <a:t> Anh.</a:t>
            </a:r>
            <a:br>
              <a:rPr sz="2300" dirty="0"/>
            </a:br>
            <a:br>
              <a:rPr sz="2300" dirty="0"/>
            </a:br>
            <a:r>
              <a:rPr sz="2300" dirty="0"/>
              <a:t>• </a:t>
            </a:r>
            <a:r>
              <a:rPr sz="2300" dirty="0" err="1"/>
              <a:t>Tích</a:t>
            </a:r>
            <a:r>
              <a:rPr sz="2300" dirty="0"/>
              <a:t> </a:t>
            </a:r>
            <a:r>
              <a:rPr sz="2300" dirty="0" err="1"/>
              <a:t>hợp</a:t>
            </a:r>
            <a:r>
              <a:rPr sz="2300" dirty="0"/>
              <a:t> </a:t>
            </a:r>
            <a:r>
              <a:rPr sz="2300" dirty="0" err="1"/>
              <a:t>tính</a:t>
            </a:r>
            <a:r>
              <a:rPr sz="2300" dirty="0"/>
              <a:t> </a:t>
            </a:r>
            <a:r>
              <a:rPr sz="2300" dirty="0" err="1"/>
              <a:t>năng</a:t>
            </a:r>
            <a:r>
              <a:rPr sz="2300" dirty="0"/>
              <a:t> </a:t>
            </a:r>
            <a:r>
              <a:rPr sz="2300" dirty="0" err="1"/>
              <a:t>phân</a:t>
            </a:r>
            <a:r>
              <a:rPr sz="2300" dirty="0"/>
              <a:t> </a:t>
            </a:r>
            <a:r>
              <a:rPr sz="2300" dirty="0" err="1"/>
              <a:t>tích</a:t>
            </a:r>
            <a:r>
              <a:rPr sz="2300" dirty="0"/>
              <a:t> </a:t>
            </a:r>
            <a:r>
              <a:rPr sz="2300" dirty="0" err="1"/>
              <a:t>phổ</a:t>
            </a:r>
            <a:r>
              <a:rPr sz="2300" dirty="0"/>
              <a:t> </a:t>
            </a:r>
            <a:r>
              <a:rPr sz="2300" dirty="0" err="1"/>
              <a:t>điểm</a:t>
            </a:r>
            <a:r>
              <a:rPr sz="2300" dirty="0"/>
              <a:t> </a:t>
            </a:r>
            <a:r>
              <a:rPr sz="2300" dirty="0" err="1"/>
              <a:t>dự</a:t>
            </a:r>
            <a:r>
              <a:rPr sz="2300" dirty="0"/>
              <a:t> </a:t>
            </a:r>
            <a:r>
              <a:rPr sz="2300" dirty="0" err="1"/>
              <a:t>đoán</a:t>
            </a:r>
            <a:r>
              <a:rPr sz="2300" dirty="0"/>
              <a:t> </a:t>
            </a:r>
            <a:r>
              <a:rPr sz="2300" dirty="0" err="1"/>
              <a:t>cơ</a:t>
            </a:r>
            <a:r>
              <a:rPr sz="2300" dirty="0"/>
              <a:t> </a:t>
            </a:r>
            <a:r>
              <a:rPr sz="2300" dirty="0" err="1"/>
              <a:t>hội</a:t>
            </a:r>
            <a:r>
              <a:rPr sz="2300" dirty="0"/>
              <a:t> </a:t>
            </a:r>
            <a:r>
              <a:rPr sz="2300" dirty="0" err="1"/>
              <a:t>đỗ</a:t>
            </a:r>
            <a:r>
              <a:rPr sz="2300" dirty="0"/>
              <a:t> </a:t>
            </a:r>
            <a:r>
              <a:rPr sz="2300" dirty="0" err="1"/>
              <a:t>đại</a:t>
            </a:r>
            <a:r>
              <a:rPr sz="2300" dirty="0"/>
              <a:t> </a:t>
            </a:r>
            <a:r>
              <a:rPr sz="2300" dirty="0" err="1"/>
              <a:t>học</a:t>
            </a:r>
            <a:r>
              <a:rPr sz="2300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2811" y="1005632"/>
            <a:ext cx="16459200" cy="81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2"/>
              </a:lnSpc>
              <a:spcBef>
                <a:spcPct val="0"/>
              </a:spcBef>
            </a:pPr>
            <a:r>
              <a:rPr sz="3600" b="1" i="0">
                <a:solidFill>
                  <a:srgbClr val="002060"/>
                </a:solidFill>
                <a:latin typeface="Arial"/>
              </a:rPr>
              <a:t>TÀI LIỆU VÀ ĐƯỜNG DẪN TRẢI NGHIỆM SẢN PHẨM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4375" y="2027149"/>
            <a:ext cx="16868775" cy="2970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460" lvl="1" indent="-326730" algn="l">
              <a:lnSpc>
                <a:spcPts val="4661"/>
              </a:lnSpc>
              <a:buFont typeface="Arial"/>
              <a:buChar char="•"/>
            </a:pPr>
            <a:endParaRPr/>
          </a:p>
          <a:p>
            <a:pPr marL="1306919" lvl="2" indent="-435640" algn="l">
              <a:lnSpc>
                <a:spcPts val="4661"/>
              </a:lnSpc>
              <a:buFont typeface="Arial"/>
              <a:buChar char="⚬"/>
            </a:pPr>
            <a:endParaRPr lang="en-US" sz="3026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marL="1306919" lvl="2" indent="-435640" algn="l">
              <a:lnSpc>
                <a:spcPts val="4661"/>
              </a:lnSpc>
              <a:buFont typeface="Arial"/>
              <a:buChar char="⚬"/>
            </a:pPr>
            <a:endParaRPr lang="en-US" sz="3026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marL="1306919" lvl="2" indent="-435640" algn="l">
              <a:lnSpc>
                <a:spcPts val="4661"/>
              </a:lnSpc>
              <a:buFont typeface="Arial"/>
              <a:buChar char="⚬"/>
            </a:pPr>
            <a:endParaRPr lang="en-US" sz="3026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4661"/>
              </a:lnSpc>
            </a:pPr>
            <a:endParaRPr lang="en-US" sz="3026" dirty="0">
              <a:solidFill>
                <a:srgbClr val="000054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714375" y="9182100"/>
            <a:ext cx="16868775" cy="0"/>
          </a:xfrm>
          <a:prstGeom prst="line">
            <a:avLst/>
          </a:prstGeom>
          <a:ln w="38100" cap="flat">
            <a:solidFill>
              <a:srgbClr val="E61E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>
            <a:off x="0" y="8919749"/>
            <a:ext cx="18288000" cy="1367251"/>
          </a:xfrm>
          <a:custGeom>
            <a:avLst/>
            <a:gdLst/>
            <a:ahLst/>
            <a:cxnLst/>
            <a:rect l="l" t="t" r="r" b="b"/>
            <a:pathLst>
              <a:path w="18288000" h="1367251">
                <a:moveTo>
                  <a:pt x="0" y="0"/>
                </a:moveTo>
                <a:lnTo>
                  <a:pt x="18288000" y="0"/>
                </a:lnTo>
                <a:lnTo>
                  <a:pt x="18288000" y="1367251"/>
                </a:lnTo>
                <a:lnTo>
                  <a:pt x="0" y="1367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52385"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10515600" cy="640080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10515600" cy="5029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 dirty="0"/>
              <a:t>HỆ THỐNG ĐƯỜNG DẪN </a:t>
            </a:r>
            <a:r>
              <a:rPr lang="vi-VN" dirty="0"/>
              <a:t>VÀ</a:t>
            </a:r>
            <a:r>
              <a:rPr dirty="0"/>
              <a:t> NGUỒN HỌC LIỆU </a:t>
            </a:r>
            <a:r>
              <a:rPr lang="vi-VN" dirty="0"/>
              <a:t>THAM KHẢO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10149840" cy="4009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002060"/>
                </a:solidFill>
                <a:latin typeface="Arial"/>
              </a:rPr>
              <a:t>1. Link </a:t>
            </a:r>
            <a:r>
              <a:rPr sz="2800" b="1" i="0" dirty="0" err="1">
                <a:solidFill>
                  <a:srgbClr val="002060"/>
                </a:solidFill>
                <a:latin typeface="Arial"/>
              </a:rPr>
              <a:t>sản</a:t>
            </a:r>
            <a:r>
              <a:rPr sz="28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2800" b="1" i="0" dirty="0" err="1">
                <a:solidFill>
                  <a:srgbClr val="002060"/>
                </a:solidFill>
                <a:latin typeface="Arial"/>
              </a:rPr>
              <a:t>phẩm</a:t>
            </a:r>
            <a:r>
              <a:rPr sz="28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2800" b="1" i="0" dirty="0" err="1">
                <a:solidFill>
                  <a:srgbClr val="002060"/>
                </a:solidFill>
                <a:latin typeface="Arial"/>
              </a:rPr>
              <a:t>chính</a:t>
            </a:r>
            <a:r>
              <a:rPr sz="2800" b="1" i="0" dirty="0">
                <a:solidFill>
                  <a:srgbClr val="002060"/>
                </a:solidFill>
                <a:latin typeface="Arial"/>
              </a:rPr>
              <a:t> </a:t>
            </a:r>
            <a:r>
              <a:rPr sz="2800" b="1" i="0" dirty="0" err="1">
                <a:solidFill>
                  <a:srgbClr val="002060"/>
                </a:solidFill>
                <a:latin typeface="Arial"/>
              </a:rPr>
              <a:t>thức</a:t>
            </a:r>
            <a:r>
              <a:rPr sz="2800" b="1" i="0" dirty="0">
                <a:solidFill>
                  <a:srgbClr val="002060"/>
                </a:solidFill>
                <a:latin typeface="Arial"/>
              </a:rPr>
              <a:t> (GitHub Pages):
</a:t>
            </a:r>
            <a:r>
              <a:rPr sz="2800" i="0" dirty="0">
                <a:solidFill>
                  <a:srgbClr val="C00000"/>
                </a:solidFill>
                <a:latin typeface="Arial"/>
              </a:rPr>
              <a:t>• https://wti200816-bit.github.io/hsa-qualitative-exam-app/</a:t>
            </a:r>
            <a:endParaRPr sz="2400" i="1" dirty="0">
              <a:solidFill>
                <a:srgbClr val="5A5A5A"/>
              </a:solidFill>
              <a:latin typeface="Arial"/>
            </a:endParaRPr>
          </a:p>
          <a:p>
            <a:r>
              <a:rPr lang="vi-VN" sz="2800" b="1" dirty="0">
                <a:solidFill>
                  <a:srgbClr val="002060"/>
                </a:solidFill>
                <a:latin typeface="Arial"/>
              </a:rPr>
              <a:t>2</a:t>
            </a:r>
            <a:r>
              <a:rPr lang="vi-VN" sz="2800" b="1" i="0" dirty="0">
                <a:solidFill>
                  <a:srgbClr val="002060"/>
                </a:solidFill>
                <a:latin typeface="Arial"/>
              </a:rPr>
              <a:t>. Nguồn học liệu tham khảo
</a:t>
            </a:r>
            <a:r>
              <a:rPr lang="vi-VN" sz="2800" b="1" i="0" dirty="0">
                <a:solidFill>
                  <a:srgbClr val="C00000"/>
                </a:solidFill>
                <a:latin typeface="Arial"/>
              </a:rPr>
              <a:t>• </a:t>
            </a:r>
            <a:r>
              <a:rPr lang="en-US" sz="2800" dirty="0" err="1"/>
              <a:t>Sử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đề</a:t>
            </a:r>
            <a:r>
              <a:rPr lang="en-US" sz="2800" dirty="0"/>
              <a:t> </a:t>
            </a:r>
            <a:r>
              <a:rPr lang="en-US" sz="2800" dirty="0" err="1"/>
              <a:t>tham</a:t>
            </a:r>
            <a:r>
              <a:rPr lang="en-US" sz="2800" dirty="0"/>
              <a:t> </a:t>
            </a:r>
            <a:r>
              <a:rPr lang="en-US" sz="2800" dirty="0" err="1"/>
              <a:t>khảo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err="1"/>
              <a:t>nhóm</a:t>
            </a:r>
            <a:r>
              <a:rPr lang="en-US" sz="2800" dirty="0"/>
              <a:t> </a:t>
            </a:r>
            <a:r>
              <a:rPr lang="en-US" sz="2800" dirty="0" err="1"/>
              <a:t>dự</a:t>
            </a:r>
            <a:r>
              <a:rPr lang="en-US" sz="2800" dirty="0"/>
              <a:t> </a:t>
            </a:r>
            <a:r>
              <a:rPr lang="en-US" sz="2800" dirty="0" err="1"/>
              <a:t>án</a:t>
            </a:r>
            <a:r>
              <a:rPr lang="en-US" sz="2800" dirty="0"/>
              <a:t> ĐGNL </a:t>
            </a:r>
            <a:r>
              <a:rPr lang="en-US" sz="2800" dirty="0" err="1"/>
              <a:t>đề</a:t>
            </a:r>
            <a:r>
              <a:rPr lang="en-US" sz="2800" dirty="0"/>
              <a:t> </a:t>
            </a:r>
            <a:r>
              <a:rPr lang="en-US" sz="2800" dirty="0" err="1"/>
              <a:t>thi</a:t>
            </a:r>
            <a:r>
              <a:rPr lang="en-US" sz="2800" dirty="0"/>
              <a:t> </a:t>
            </a:r>
            <a:r>
              <a:rPr lang="en-US" sz="2800" dirty="0" err="1"/>
              <a:t>minh</a:t>
            </a:r>
            <a:r>
              <a:rPr lang="en-US" sz="2800" dirty="0"/>
              <a:t> </a:t>
            </a:r>
            <a:r>
              <a:rPr lang="en-US" sz="2800" dirty="0" err="1"/>
              <a:t>họa</a:t>
            </a:r>
            <a:r>
              <a:rPr lang="en-US" sz="2800" dirty="0"/>
              <a:t> HSA</a:t>
            </a:r>
          </a:p>
          <a:p>
            <a:r>
              <a:rPr lang="en-US" sz="2800" i="1" dirty="0"/>
              <a:t>(</a:t>
            </a:r>
            <a:r>
              <a:rPr lang="en-US" sz="2800" i="1" dirty="0" err="1"/>
              <a:t>Được</a:t>
            </a:r>
            <a:r>
              <a:rPr lang="en-US" sz="2800" i="1" dirty="0"/>
              <a:t> </a:t>
            </a:r>
            <a:r>
              <a:rPr lang="en-US" sz="2800" i="1" dirty="0" err="1"/>
              <a:t>chọn</a:t>
            </a:r>
            <a:r>
              <a:rPr lang="en-US" sz="2800" i="1" dirty="0"/>
              <a:t> </a:t>
            </a:r>
            <a:r>
              <a:rPr lang="en-US" sz="2800" i="1" dirty="0" err="1"/>
              <a:t>lọc</a:t>
            </a:r>
            <a:r>
              <a:rPr lang="en-US" sz="2800" i="1" dirty="0"/>
              <a:t> </a:t>
            </a:r>
            <a:r>
              <a:rPr lang="en-US" sz="2800" i="1" dirty="0" err="1"/>
              <a:t>và</a:t>
            </a:r>
            <a:r>
              <a:rPr lang="en-US" sz="2800" i="1" dirty="0"/>
              <a:t> </a:t>
            </a:r>
            <a:r>
              <a:rPr lang="en-US" sz="2800" i="1" dirty="0" err="1"/>
              <a:t>chuẩn</a:t>
            </a:r>
            <a:r>
              <a:rPr lang="en-US" sz="2800" i="1" dirty="0"/>
              <a:t> </a:t>
            </a:r>
            <a:r>
              <a:rPr lang="en-US" sz="2800" i="1" dirty="0" err="1"/>
              <a:t>hóa</a:t>
            </a:r>
            <a:r>
              <a:rPr lang="en-US" sz="2800" i="1" dirty="0"/>
              <a:t> </a:t>
            </a:r>
            <a:r>
              <a:rPr lang="en-US" sz="2800" i="1" dirty="0" err="1"/>
              <a:t>theo</a:t>
            </a:r>
            <a:r>
              <a:rPr lang="en-US" sz="2800" i="1" dirty="0"/>
              <a:t> </a:t>
            </a:r>
            <a:r>
              <a:rPr lang="en-US" sz="2800" i="1" dirty="0" err="1"/>
              <a:t>khung</a:t>
            </a:r>
            <a:r>
              <a:rPr lang="en-US" sz="2800" i="1" dirty="0"/>
              <a:t> ma </a:t>
            </a:r>
            <a:r>
              <a:rPr lang="en-US" sz="2800" i="1" dirty="0" err="1"/>
              <a:t>trận</a:t>
            </a:r>
            <a:r>
              <a:rPr lang="en-US" sz="2800" i="1" dirty="0"/>
              <a:t> ĐGNL </a:t>
            </a:r>
            <a:r>
              <a:rPr lang="en-US" sz="2800" i="1" dirty="0" err="1"/>
              <a:t>của</a:t>
            </a:r>
            <a:r>
              <a:rPr lang="en-US" sz="2800" i="1" dirty="0"/>
              <a:t> ĐHQG Hà </a:t>
            </a:r>
            <a:r>
              <a:rPr lang="en-US" sz="2800" i="1" dirty="0" err="1"/>
              <a:t>Nội</a:t>
            </a:r>
            <a:r>
              <a:rPr lang="en-US" sz="2800" i="1" dirty="0"/>
              <a:t>.)</a:t>
            </a:r>
            <a:r>
              <a:rPr sz="2400" b="0" i="1" dirty="0">
                <a:solidFill>
                  <a:srgbClr val="5A5A5A"/>
                </a:solidFill>
                <a:latin typeface="Arial"/>
              </a:rPr>
              <a:t>
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0" y="2011680"/>
            <a:ext cx="5486400" cy="640080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887200" y="2011680"/>
            <a:ext cx="5486400" cy="50292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QUÉT MÃ TRẢI NGHIỆM NGAY</a:t>
            </a:r>
          </a:p>
        </p:txBody>
      </p:sp>
      <p:pic>
        <p:nvPicPr>
          <p:cNvPr id="13" name="Picture 12" descr="qr_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3575" y="3453314"/>
            <a:ext cx="2743200" cy="2743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716000" y="6634298"/>
            <a:ext cx="223651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i="0" dirty="0">
                <a:solidFill>
                  <a:srgbClr val="5A5A5A"/>
                </a:solidFill>
                <a:latin typeface="Arial"/>
              </a:rPr>
              <a:t>Link GitHub Pages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daa77bc-0157-46a4-82a6-8fc765694bc9}" enabled="1" method="Standard" siteId="{d1323671-cdbe-4417-b4d4-bdb24b51316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1571</TotalTime>
  <Words>2298</Words>
  <Application>Microsoft Office PowerPoint</Application>
  <PresentationFormat>Custom</PresentationFormat>
  <Paragraphs>194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Aptos</vt:lpstr>
      <vt:lpstr>Aptos Bold</vt:lpstr>
      <vt:lpstr>Museo RMIT VN Light</vt:lpstr>
      <vt:lpstr>Museo RMIT VN Bold</vt:lpstr>
      <vt:lpstr>Wingdings</vt:lpstr>
      <vt:lpstr>Calibri</vt:lpstr>
      <vt:lpstr>Times New Roman</vt:lpstr>
      <vt:lpstr>Aptos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Slide_2026</dc:title>
  <cp:lastModifiedBy>pt4nnnnias@gmail.com</cp:lastModifiedBy>
  <cp:revision>4</cp:revision>
  <dcterms:created xsi:type="dcterms:W3CDTF">2006-08-16T00:00:00Z</dcterms:created>
  <dcterms:modified xsi:type="dcterms:W3CDTF">2026-10-20T17:19:10Z</dcterms:modified>
  <dc:identifier>DAHWihqIcbo</dc:identifier>
</cp:coreProperties>
</file>